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Space Grotesk"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project we built a complete system that screens satellites and debris in low Earth orbit for close approaches, called conjunctions, using data structures we wrote ourselves in C. The talk follows the report: the problem, the idea that makes fast screening exact, the results, the verification, then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picture: Earth’s orbit is crowded. Besides working satellites there is debris, which means dead satellites and pieces of broken rockets, all moving at about 7 to 8 kilometres every second. One collision can destroy a satellite and create even more debris, so operators check ahead of time which pairs will pass dangerously close. That check is called conjunction screening. Why is it hard? The obvious way is to compare every object with every other object. In our real catalogue there are 18,191 objects in low Earth orbit, and doing that for just one hour of orbit takes 59.6 billion comparisons, and the work grows with the square of the number of objects. So our question is: can we find every close pair without comparing every pair, and be sure we missed nothing? (Technical detail if asked: 10 second time steps, brute force, CelesTrak snapshot of 20 October 2026, 19,440 objects before filtering to low Earth orbit.)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crowded stadium. To find people who might bump into each other, you would not compare every person with every other person. You would ask each person who is standing near them. Left: the obvious way draws a line from one object to every other object. Right: our way draws a circle and only compares objects inside it, because objects far away cannot meet soon. To find the neighbours quickly we use a filing system for positions, and in the project we built two of them. The grid sorts objects into map squares, so you only look in the squares around an object. The k-d tree keeps splitting space in half until each piece holds only a few objects, so you can jump straight to the neighbours. The next question is the important one: how can we be sure that skipping the faraway objects never hides a real close approach?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Skipping pairs only works if we can be sure we never skip one that matters. We have two kinds of assurance. First, a rule we can prove: objects can only close the gap between them so fast, at the sum of their top speeds. If a pair is farther apart than the gap could shrink before the next time step, they cannot meet, so skipping them is safe. Think of two cars 100 kilometres apart: if neither can drive fast enough, they cannot meet in the next minute. Second, a test: we ran the fast methods and the slow check-everything method, brute force, on the same data, and the list of close pairs was exactly the same, byte for byte. That held in 88 of 88 synthetic runs, a 20,000-object synthetic catalogue and the real catalogue of 18,191 objects. If asked about the maths: the bound is distance now greater than threshold plus L times the step h, where L is the sum of the two objects’ maximum speeds; the schematic is in the report, Section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and how it compares with what already exists. The obvious way, checking every pair, is the grey line, and it climbs very steeply as objects are added. Our two methods, the k-d tree in blue and the grid in gold, climb far more slowly. At 20,000 synthetic objects, checking everyone takes 98.2 seconds and our methods take 9.8 and 9.2 seconds, about 10 times faster. On the real catalogue of 18,191 objects it is about 7 times faster, 102 seconds down to about 15. The speed-up in time is smaller than the drop in comparisons, which is about 15,000 times fewer, because after filtering, computing the positions and refining each close pair take most of the time. Remember from the last slide that the answer is exactly the same. What earlier work left open: our base paper, Gómez and colleagues from 2022, tracked conjunctions in a long simulation but did not compare different spatial data structures and did not measure how cost grows with the number of objects. We did both. Details if asked: single-thread CPU seconds on one virtual machine, so ratios matter more than absolute times; exact figures are 10.0 and 10.7 times at 20,000 objects and 6.6 and 6.9 times on the real catalogue; at 50,000 objects we ran only the two fast methods, 45.4 and 41.3 seconds with the same 56,780 events, so we state no speed-up at that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data structures behind the six steps, all written from scratch. Dynamic array: a list that grows as needed, for the close calls and the network. Linked list: a chain of items, used for items that share a slot in the lookup table. Hash table: like a phone book, it finds any object by its ID instantly. Stack and queue: last-in-first-out and first-in-first-out, used to explore clumps in depth-first and breadth-first order, and to undo steps in the exact search. Binary heap: keeps the top item ready, used for the closest calls and the quick avoidance plan. AVL tree: a self-balancing sorted index, used for the timeline of close calls. k-d tree and hashed grid: two ways of finding nearby objects fast, and the two we compare. Union-find: tracks which group each object belongs to, used to double-check the clumps. For choosing which objects to move we wrote two algorithms: greedy, which is quick, and branch and bound, which finds the best possible plan. The costs are the standard textbook ones; the experiments measure what they add up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the list of close calls, a pattern shows up: they come in clumps. If object A is close to B, and B is close to C, they belong to the same clump. In the technical report this is called a cluster, found with a graph of objects and close calls. How big the clumps get depends on how close two objects must be before we flag them. Flagging pairs closer than 5 kilometres, the biggest clump has 24 objects. Flagging pairs closer than 10 kilometres, one giant clump swallows 7,197 objects. The practical lesson: a 5 kilometre distance keeps the clumps small enough to plan around exactly, while at 10 kilometres the picture is one big tangle. Details if asked: events at 1, 2, 5 and 10 km were 48, 174, 2,254 and 12,504; at 10 km there were 717 clumps, 542 of them single pairs; the closest crossing encounter was 0.383 km at 13.1 km/s. Real catalogue, one hour of orbit.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the close calls is only half the job. Operators then have to decide which objects to move. To clear every close call, at least one object in every close pair has to move, and we want to move as few as possible. In the report this is a minimum vertex cover. We compared two approaches. The quick method, called greedy, repeatedly moves the object involved in the most close calls. The perfect method searches for the smallest possible set. For one hour of orbit, flagging pairs closer than 10 kilometres, the quick method moves 3,737 objects and the best possible plan moves 3,687, so the quick method needs only 1.4 percent more. For six hours it is 5,614 against 5,595, only 0.3 percent more. An independent integer-programming solver confirmed our best-possible numbers at one and six hours. The perfect search is only practical for small groups, because it can take very long on big ones. At three hours, and in one clump at six hours, it stopped at its time limit, so those figures are best found rather than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our claim is that nothing is missed, we put effort into checking our own work. We deliberately planted 39 small bugs, one at a time, and our tests caught 36; the other three turned out not to change the behaviour. 99.9 percent of the code lines run during the tests. We made the computer run out of memory on purpose 6,550 times, and the program either reported an error or gave the right answer, never crashing. Our own hand-written orbit calculation differs from a trusted reference implementation, the Python SGP4 library, by at most 0.86 millimetres across 18,635 objects. In the report these are the mutation check, line coverage, fault injection and SGP4 validation. The unit and property tests pass on Linux, with extra memory-checking tools, and on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In Command Prompt, in the project folder, run scripts backslash demo.bat. It builds the program, then runs three steps. One: load the four CelesTrak files, 19,440 objects with no bad rows, 18,616 of them in low Earth orbit. Two: screen with the k-d tree for one hour at a 10 second step and a 5 kilometre threshold using SGP4; 18,191 objects are used, and it finds 2,254 events on 2,204 pairs. Three: build the graph and plan mitigation: 1,044 clusters, the largest with 24 objects, greedy 1,353 objects against exact 1,346, and the exact search finished on all 425 clusters of three or more objects. Results are written as CSV files to build backslash demo. The screenshot on the slide is a Linux run, so its CPU time differs slightly from a Windows run. Have the demo already built before presenting in case of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With a proven distance bound, a k-d tree and a hashed grid return exactly the events of brute force while examining about 15,000 times fewer pairs. Measured time falls 10 times at 20,000 synthetic objects and 6.6 to 6.9 times on the real catalogue, because propagation and refinement then dominate. The two indexes are equally good here, and an altitude filter does not help in low Earth orbit. A greedy avoidance plan is within 1.4 percent of the optimum. Limits: objects are points with one fixed screening distance, there is no covariance or collision probability, the scope is low Earth orbit, events are SGP4 against SGP4, and brute force was not run at 50,000 objects. Future work: SDP4 and wider scope, caching SGP4 states, and adding uncertainty and collision probability.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0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33109"/>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2"/>
            <a:ext cx="10566400" cy="4460278"/>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0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33109"/>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2"/>
            <a:ext cx="10566400" cy="4460278"/>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6096000" y="1016000"/>
            <a:ext cx="4953000" cy="4953000"/>
          </a:xfrm>
          <a:prstGeom prst="rect">
            <a:avLst/>
          </a:prstGeom>
        </p:spPr>
      </p:pic>
      <p:pic>
        <p:nvPicPr>
          <p:cNvPr id="3" name="Image 1" descr="ellipse">    </p:cNvPr>
          <p:cNvPicPr>
            <a:picLocks noChangeAspect="1"/>
          </p:cNvPicPr>
          <p:nvPr/>
        </p:nvPicPr>
        <p:blipFill>
          <a:blip r:embed="rId2"/>
          <a:srcRect l="0" r="0" t="0" b="0"/>
          <a:stretch/>
        </p:blipFill>
        <p:spPr>
          <a:xfrm>
            <a:off x="7048500" y="1968500"/>
            <a:ext cx="3048000" cy="3048000"/>
          </a:xfrm>
          <a:prstGeom prst="rect">
            <a:avLst/>
          </a:prstGeom>
        </p:spPr>
      </p:pic>
      <p:pic>
        <p:nvPicPr>
          <p:cNvPr id="4" name="Image 2" descr="ellipse">    </p:cNvPr>
          <p:cNvPicPr>
            <a:picLocks noChangeAspect="1"/>
          </p:cNvPicPr>
          <p:nvPr/>
        </p:nvPicPr>
        <p:blipFill>
          <a:blip r:embed="rId3"/>
          <a:srcRect l="0" r="0" t="0" b="0"/>
          <a:stretch/>
        </p:blipFill>
        <p:spPr>
          <a:xfrm>
            <a:off x="8483600" y="927100"/>
            <a:ext cx="177800" cy="177800"/>
          </a:xfrm>
          <a:prstGeom prst="rect">
            <a:avLst/>
          </a:prstGeom>
        </p:spPr>
      </p:pic>
      <p:pic>
        <p:nvPicPr>
          <p:cNvPr id="5" name="Image 3" descr="ellipse">    </p:cNvPr>
          <p:cNvPicPr>
            <a:picLocks noChangeAspect="1"/>
          </p:cNvPicPr>
          <p:nvPr/>
        </p:nvPicPr>
        <p:blipFill>
          <a:blip r:embed="rId4"/>
          <a:srcRect l="0" r="0" t="0" b="0"/>
          <a:stretch/>
        </p:blipFill>
        <p:spPr>
          <a:xfrm>
            <a:off x="10007600" y="3403600"/>
            <a:ext cx="177800" cy="177800"/>
          </a:xfrm>
          <a:prstGeom prst="rect">
            <a:avLst/>
          </a:prstGeom>
        </p:spPr>
      </p:pic>
      <p:sp>
        <p:nvSpPr>
          <p:cNvPr id="6" name="Text 0"/>
          <p:cNvSpPr/>
          <p:nvPr/>
        </p:nvSpPr>
        <p:spPr>
          <a:xfrm>
            <a:off x="812800" y="812800"/>
            <a:ext cx="5624830" cy="523214"/>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541"/>
                </a:solidFill>
                <a:latin typeface="IBM Plex Sans" pitchFamily="34" charset="0"/>
                <a:ea typeface="IBM Plex Sans" pitchFamily="34" charset="-122"/>
                <a:cs typeface="IBM Plex Sans" pitchFamily="34" charset="-120"/>
              </a:rPr>
              <a:t>DATA STRUCTURES AND ALGORITHMS · COURSE PROJECT</a:t>
            </a:r>
            <a:endParaRPr lang="en-US" sz="1400" dirty="0"/>
          </a:p>
        </p:txBody>
      </p:sp>
      <p:sp>
        <p:nvSpPr>
          <p:cNvPr id="7" name="Text 1"/>
          <p:cNvSpPr/>
          <p:nvPr>
            <p:ph type="title"/>
          </p:nvPr>
        </p:nvSpPr>
        <p:spPr>
          <a:xfrm>
            <a:off x="812800" y="2052439"/>
            <a:ext cx="5624830" cy="1945481"/>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4F1EA"/>
                </a:solidFill>
                <a:latin typeface="Space Grotesk" pitchFamily="34" charset="0"/>
                <a:ea typeface="Space Grotesk" pitchFamily="34" charset="-122"/>
                <a:cs typeface="Space Grotesk" pitchFamily="34" charset="-120"/>
              </a:rPr>
              <a:t>Space Debris Tracking and Avoidance</a:t>
            </a:r>
            <a:endParaRPr lang="en-US" sz="4800" dirty="0"/>
          </a:p>
        </p:txBody>
      </p:sp>
      <p:sp>
        <p:nvSpPr>
          <p:cNvPr id="8" name="Text 2"/>
          <p:cNvSpPr/>
          <p:nvPr/>
        </p:nvSpPr>
        <p:spPr>
          <a:xfrm>
            <a:off x="812800" y="4150320"/>
            <a:ext cx="562483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B4C8"/>
                </a:solidFill>
                <a:latin typeface="IBM Plex Sans" pitchFamily="34" charset="0"/>
                <a:ea typeface="IBM Plex Sans" pitchFamily="34" charset="-122"/>
                <a:cs typeface="IBM Plex Sans" pitchFamily="34" charset="-120"/>
              </a:rPr>
              <a:t>using Data Structures and Algorithms</a:t>
            </a:r>
            <a:endParaRPr lang="en-US" sz="2000" dirty="0"/>
          </a:p>
        </p:txBody>
      </p:sp>
      <p:sp>
        <p:nvSpPr>
          <p:cNvPr id="9" name="Text 3"/>
          <p:cNvSpPr/>
          <p:nvPr/>
        </p:nvSpPr>
        <p:spPr>
          <a:xfrm>
            <a:off x="812800" y="5222280"/>
            <a:ext cx="56248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Vedant Pathak (R045) · Dhairya Shah (R057) · Kanishak Thakran (R046)</a:t>
            </a:r>
            <a:endParaRPr lang="en-US" sz="1400" dirty="0"/>
          </a:p>
        </p:txBody>
      </p:sp>
      <p:sp>
        <p:nvSpPr>
          <p:cNvPr id="10" name="Text 4"/>
          <p:cNvSpPr/>
          <p:nvPr/>
        </p:nvSpPr>
        <p:spPr>
          <a:xfrm>
            <a:off x="812800" y="5796293"/>
            <a:ext cx="56248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4C8"/>
                </a:solidFill>
                <a:latin typeface="IBM Plex Sans" pitchFamily="34" charset="0"/>
                <a:ea typeface="IBM Plex Sans" pitchFamily="34" charset="-122"/>
                <a:cs typeface="IBM Plex Sans" pitchFamily="34" charset="-120"/>
              </a:rPr>
              <a:t>Faculty: Prateeksha Shanoj · SVKM’s NMIMS MPSTME, Mumbai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Real catalogue: CelesTrak, 20 October 2026 · low Earth orbit objects</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 / 11</a:t>
            </a:r>
            <a:endParaRPr lang="en-US" sz="1200" dirty="0"/>
          </a:p>
        </p:txBody>
      </p:sp>
      <p:sp>
        <p:nvSpPr>
          <p:cNvPr id="4" name="Text 2"/>
          <p:cNvSpPr/>
          <p:nvPr/>
        </p:nvSpPr>
        <p:spPr>
          <a:xfrm>
            <a:off x="812800" y="6096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45309"/>
                </a:solidFill>
                <a:latin typeface="IBM Plex Sans" pitchFamily="34" charset="0"/>
                <a:ea typeface="IBM Plex Sans" pitchFamily="34" charset="-122"/>
                <a:cs typeface="IBM Plex Sans" pitchFamily="34" charset="-120"/>
              </a:rPr>
              <a:t>THE PROBLEM</a:t>
            </a:r>
            <a:endParaRPr lang="en-US" sz="1400" dirty="0"/>
          </a:p>
        </p:txBody>
      </p:sp>
      <p:sp>
        <p:nvSpPr>
          <p:cNvPr id="5" name="Text 3"/>
          <p:cNvSpPr/>
          <p:nvPr>
            <p:ph type="title"/>
          </p:nvPr>
        </p:nvSpPr>
        <p:spPr>
          <a:xfrm>
            <a:off x="812800" y="934707"/>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Earth’s orbit is crowded with junk</a:t>
            </a:r>
            <a:endParaRPr lang="en-US" sz="3200" dirty="0"/>
          </a:p>
        </p:txBody>
      </p:sp>
      <p:sp>
        <p:nvSpPr>
          <p:cNvPr id="6" name="Text 4"/>
          <p:cNvSpPr/>
          <p:nvPr/>
        </p:nvSpPr>
        <p:spPr>
          <a:xfrm>
            <a:off x="812800" y="1815571"/>
            <a:ext cx="5755640" cy="93206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13D"/>
                </a:solidFill>
                <a:latin typeface="IBM Plex Sans" pitchFamily="34" charset="0"/>
                <a:ea typeface="IBM Plex Sans" pitchFamily="34" charset="-122"/>
                <a:cs typeface="IBM Plex Sans" pitchFamily="34" charset="-120"/>
              </a:rPr>
              <a:t>Working satellites share space with </a:t>
            </a:r>
            <a:r>
              <a:rPr lang="en-US" sz="1700" b="1" dirty="0">
                <a:solidFill>
                  <a:srgbClr val="14213D"/>
                </a:solidFill>
                <a:latin typeface="IBM Plex Sans" pitchFamily="34" charset="0"/>
                <a:ea typeface="IBM Plex Sans" pitchFamily="34" charset="-122"/>
                <a:cs typeface="IBM Plex Sans" pitchFamily="34" charset="-120"/>
              </a:rPr>
              <a:t>debris</a:t>
            </a:r>
            <a:r>
              <a:rPr lang="en-US" sz="1700" dirty="0">
                <a:solidFill>
                  <a:srgbClr val="14213D"/>
                </a:solidFill>
                <a:latin typeface="IBM Plex Sans" pitchFamily="34" charset="0"/>
                <a:ea typeface="IBM Plex Sans" pitchFamily="34" charset="-122"/>
                <a:cs typeface="IBM Plex Sans" pitchFamily="34" charset="-120"/>
              </a:rPr>
              <a:t>: dead satellites and fragments of broken rockets, all moving at about 7 to 8 kilometres every second.</a:t>
            </a:r>
            <a:endParaRPr lang="en-US" sz="1700" dirty="0"/>
          </a:p>
        </p:txBody>
      </p:sp>
      <p:sp>
        <p:nvSpPr>
          <p:cNvPr id="7" name="Text 5"/>
          <p:cNvSpPr/>
          <p:nvPr/>
        </p:nvSpPr>
        <p:spPr>
          <a:xfrm>
            <a:off x="812800" y="2900032"/>
            <a:ext cx="5755640" cy="123428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4213D"/>
                </a:solidFill>
                <a:latin typeface="IBM Plex Sans" pitchFamily="34" charset="0"/>
                <a:ea typeface="IBM Plex Sans" pitchFamily="34" charset="-122"/>
                <a:cs typeface="IBM Plex Sans" pitchFamily="34" charset="-120"/>
              </a:rPr>
              <a:t>One collision can destroy a satellite and create even more debris. So operators must predict, ahead of time, which pairs will pass dangerously close. This check is called </a:t>
            </a:r>
            <a:r>
              <a:rPr lang="en-US" sz="1700" b="1" dirty="0">
                <a:solidFill>
                  <a:srgbClr val="14213D"/>
                </a:solidFill>
                <a:latin typeface="IBM Plex Sans" pitchFamily="34" charset="0"/>
                <a:ea typeface="IBM Plex Sans" pitchFamily="34" charset="-122"/>
                <a:cs typeface="IBM Plex Sans" pitchFamily="34" charset="-120"/>
              </a:rPr>
              <a:t>conjunction screening</a:t>
            </a:r>
            <a:r>
              <a:rPr lang="en-US" sz="1700" dirty="0">
                <a:solidFill>
                  <a:srgbClr val="14213D"/>
                </a:solidFill>
                <a:latin typeface="IBM Plex Sans" pitchFamily="34" charset="0"/>
                <a:ea typeface="IBM Plex Sans" pitchFamily="34" charset="-122"/>
                <a:cs typeface="IBM Plex Sans" pitchFamily="34" charset="-120"/>
              </a:rPr>
              <a:t>.</a:t>
            </a:r>
            <a:endParaRPr lang="en-US" sz="1700" dirty="0"/>
          </a:p>
        </p:txBody>
      </p:sp>
      <p:sp>
        <p:nvSpPr>
          <p:cNvPr id="8" name="Shape 6"/>
          <p:cNvSpPr/>
          <p:nvPr/>
        </p:nvSpPr>
        <p:spPr>
          <a:xfrm>
            <a:off x="6756400" y="1639689"/>
            <a:ext cx="4622800" cy="1126397"/>
          </a:xfrm>
          <a:prstGeom prst="roundRect">
            <a:avLst>
              <a:gd name="adj" fmla="val 11275"/>
            </a:avLst>
          </a:prstGeom>
          <a:solidFill>
            <a:srgbClr val="FFFFFF"/>
          </a:solidFill>
          <a:ln/>
        </p:spPr>
      </p:sp>
      <p:sp>
        <p:nvSpPr>
          <p:cNvPr id="9" name="Text 7"/>
          <p:cNvSpPr/>
          <p:nvPr/>
        </p:nvSpPr>
        <p:spPr>
          <a:xfrm>
            <a:off x="6985000" y="1817489"/>
            <a:ext cx="4290568"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13D"/>
                </a:solidFill>
                <a:latin typeface="Space Grotesk" pitchFamily="34" charset="0"/>
                <a:ea typeface="Space Grotesk" pitchFamily="34" charset="-122"/>
                <a:cs typeface="Space Grotesk" pitchFamily="34" charset="-120"/>
              </a:rPr>
              <a:t>18,191</a:t>
            </a:r>
            <a:endParaRPr lang="en-US" sz="3600" dirty="0"/>
          </a:p>
        </p:txBody>
      </p:sp>
      <p:sp>
        <p:nvSpPr>
          <p:cNvPr id="10" name="Text 8"/>
          <p:cNvSpPr/>
          <p:nvPr/>
        </p:nvSpPr>
        <p:spPr>
          <a:xfrm>
            <a:off x="6985000" y="2348309"/>
            <a:ext cx="4290568"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objects in our real catalogue to screen</a:t>
            </a:r>
            <a:endParaRPr lang="en-US" sz="1400" dirty="0"/>
          </a:p>
        </p:txBody>
      </p:sp>
      <p:sp>
        <p:nvSpPr>
          <p:cNvPr id="11" name="Shape 9"/>
          <p:cNvSpPr/>
          <p:nvPr/>
        </p:nvSpPr>
        <p:spPr>
          <a:xfrm>
            <a:off x="6756400" y="2918487"/>
            <a:ext cx="4622800" cy="1366375"/>
          </a:xfrm>
          <a:prstGeom prst="roundRect">
            <a:avLst>
              <a:gd name="adj" fmla="val 9295"/>
            </a:avLst>
          </a:prstGeom>
          <a:solidFill>
            <a:srgbClr val="FFFFFF"/>
          </a:solidFill>
          <a:ln/>
        </p:spPr>
      </p:sp>
      <p:sp>
        <p:nvSpPr>
          <p:cNvPr id="12" name="Shape 10"/>
          <p:cNvSpPr/>
          <p:nvPr/>
        </p:nvSpPr>
        <p:spPr>
          <a:xfrm>
            <a:off x="6756400" y="2918487"/>
            <a:ext cx="4622800" cy="1366375"/>
          </a:xfrm>
          <a:custGeom>
            <a:avLst/>
            <a:gdLst/>
            <a:ahLst/>
            <a:cxnLst/>
            <a:rect l="l" t="t" r="r" b="b"/>
            <a:pathLst>
              <a:path w="4622800" h="1366375">
                <a:moveTo>
                  <a:pt x="127000" y="1366375"/>
                </a:moveTo>
                <a:lnTo>
                  <a:pt x="127000" y="1366375"/>
                </a:lnTo>
                <a:arcTo hR="127000" wR="127000" stAng="5400000" swAng="5400000"/>
                <a:lnTo>
                  <a:pt x="0" y="127000"/>
                </a:lnTo>
                <a:arcTo hR="127000" wR="127000" stAng="10800000" swAng="5400000"/>
                <a:lnTo>
                  <a:pt x="127000" y="0"/>
                </a:lnTo>
                <a:arcTo hR="127000" wR="63500" stAng="16200000" swAng="-5400000"/>
                <a:lnTo>
                  <a:pt x="63500" y="1239375"/>
                </a:lnTo>
                <a:arcTo hR="127000" wR="63500" stAng="10800000" swAng="-5400000"/>
                <a:close/>
              </a:path>
            </a:pathLst>
          </a:custGeom>
          <a:solidFill>
            <a:srgbClr val="FFFFFF"/>
          </a:solidFill>
          <a:ln/>
        </p:spPr>
      </p:sp>
      <p:sp>
        <p:nvSpPr>
          <p:cNvPr id="13" name="Text 11"/>
          <p:cNvSpPr/>
          <p:nvPr/>
        </p:nvSpPr>
        <p:spPr>
          <a:xfrm>
            <a:off x="7048500" y="3096287"/>
            <a:ext cx="4225163"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14213D"/>
                </a:solidFill>
                <a:latin typeface="Space Grotesk" pitchFamily="34" charset="0"/>
                <a:ea typeface="Space Grotesk" pitchFamily="34" charset="-122"/>
                <a:cs typeface="Space Grotesk" pitchFamily="34" charset="-120"/>
              </a:rPr>
              <a:t>59.6 billion</a:t>
            </a:r>
            <a:endParaRPr lang="en-US" sz="3600" dirty="0"/>
          </a:p>
        </p:txBody>
      </p:sp>
      <p:sp>
        <p:nvSpPr>
          <p:cNvPr id="14" name="Text 12"/>
          <p:cNvSpPr/>
          <p:nvPr/>
        </p:nvSpPr>
        <p:spPr>
          <a:xfrm>
            <a:off x="7048500" y="3627107"/>
            <a:ext cx="4225163"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comparisons to check every pair, for just one hour of orbit</a:t>
            </a:r>
            <a:endParaRPr lang="en-US" sz="1400" dirty="0"/>
          </a:p>
        </p:txBody>
      </p:sp>
      <p:sp>
        <p:nvSpPr>
          <p:cNvPr id="15" name="Text 13"/>
          <p:cNvSpPr/>
          <p:nvPr/>
        </p:nvSpPr>
        <p:spPr>
          <a:xfrm>
            <a:off x="812800" y="4577358"/>
            <a:ext cx="10883392" cy="539750"/>
          </a:xfrm>
          <a:prstGeom prst="rect">
            <a:avLst/>
          </a:prstGeom>
          <a:noFill/>
          <a:ln/>
        </p:spPr>
        <p:txBody>
          <a:bodyPr wrap="square" lIns="0" tIns="0" rIns="0" bIns="0" rtlCol="0" anchor="t">
            <a:normAutofit/>
          </a:bodyPr>
          <a:lstStyle/>
          <a:p>
            <a:pPr algn="l" indent="0" marL="0">
              <a:lnSpc>
                <a:spcPts val="4050"/>
              </a:lnSpc>
              <a:buNone/>
            </a:pPr>
            <a:r>
              <a:rPr lang="en-US" sz="3000" b="1" dirty="0">
                <a:solidFill>
                  <a:srgbClr val="B45309"/>
                </a:solidFill>
                <a:latin typeface="IBM Plex Sans" pitchFamily="34" charset="0"/>
                <a:ea typeface="IBM Plex Sans" pitchFamily="34" charset="-122"/>
                <a:cs typeface="IBM Plex Sans" pitchFamily="34" charset="-120"/>
              </a:rPr>
              <a:t>Our question: </a:t>
            </a:r>
            <a:endParaRPr lang="en-US" sz="3000" dirty="0"/>
          </a:p>
        </p:txBody>
      </p:sp>
      <p:sp>
        <p:nvSpPr>
          <p:cNvPr id="16" name="Text 14"/>
          <p:cNvSpPr/>
          <p:nvPr/>
        </p:nvSpPr>
        <p:spPr>
          <a:xfrm>
            <a:off x="812800" y="5091708"/>
            <a:ext cx="4709160" cy="574014"/>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B45309"/>
                </a:solidFill>
                <a:latin typeface="IBM Plex Sans" pitchFamily="34" charset="0"/>
                <a:ea typeface="IBM Plex Sans" pitchFamily="34" charset="-122"/>
                <a:cs typeface="IBM Plex Sans" pitchFamily="34" charset="-120"/>
              </a:rPr>
              <a:t>Can we find every close pair without comparing every pair?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5080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45309"/>
                </a:solidFill>
                <a:latin typeface="IBM Plex Sans" pitchFamily="34" charset="0"/>
                <a:ea typeface="IBM Plex Sans" pitchFamily="34" charset="-122"/>
                <a:cs typeface="IBM Plex Sans" pitchFamily="34" charset="-120"/>
              </a:rPr>
              <a:t>THE SOLUTION</a:t>
            </a:r>
            <a:endParaRPr lang="en-US" sz="1400" dirty="0"/>
          </a:p>
        </p:txBody>
      </p:sp>
      <p:sp>
        <p:nvSpPr>
          <p:cNvPr id="3" name="Text 1"/>
          <p:cNvSpPr/>
          <p:nvPr>
            <p:ph type="title"/>
          </p:nvPr>
        </p:nvSpPr>
        <p:spPr>
          <a:xfrm>
            <a:off x="812800" y="833107"/>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Check only the neighbours, not everyone</a:t>
            </a:r>
            <a:endParaRPr lang="en-US" sz="3200" dirty="0"/>
          </a:p>
        </p:txBody>
      </p:sp>
      <p:sp>
        <p:nvSpPr>
          <p:cNvPr id="4" name="Shape 2"/>
          <p:cNvSpPr/>
          <p:nvPr/>
        </p:nvSpPr>
        <p:spPr>
          <a:xfrm>
            <a:off x="812800" y="1508720"/>
            <a:ext cx="5181600" cy="3469481"/>
          </a:xfrm>
          <a:prstGeom prst="roundRect">
            <a:avLst>
              <a:gd name="adj" fmla="val 3660"/>
            </a:avLst>
          </a:prstGeom>
          <a:solidFill>
            <a:srgbClr val="FFFFFF"/>
          </a:solidFill>
          <a:ln/>
        </p:spPr>
      </p:sp>
      <p:pic>
        <p:nvPicPr>
          <p:cNvPr id="5" name="Image 0" descr="Schematic: one object joined by a line to every other object">    </p:cNvPr>
          <p:cNvPicPr>
            <a:picLocks noChangeAspect="1"/>
          </p:cNvPicPr>
          <p:nvPr/>
        </p:nvPicPr>
        <p:blipFill>
          <a:blip r:embed="rId1"/>
          <a:srcRect l="0" r="0" t="0" b="0"/>
          <a:stretch/>
        </p:blipFill>
        <p:spPr>
          <a:xfrm>
            <a:off x="965200" y="1661120"/>
            <a:ext cx="4826000" cy="2159000"/>
          </a:xfrm>
          <a:prstGeom prst="rect">
            <a:avLst/>
          </a:prstGeom>
        </p:spPr>
      </p:pic>
      <p:sp>
        <p:nvSpPr>
          <p:cNvPr id="6" name="Text 3"/>
          <p:cNvSpPr/>
          <p:nvPr/>
        </p:nvSpPr>
        <p:spPr>
          <a:xfrm>
            <a:off x="965200" y="3921720"/>
            <a:ext cx="502310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The obvious way</a:t>
            </a:r>
            <a:endParaRPr lang="en-US" sz="1700" dirty="0"/>
          </a:p>
        </p:txBody>
      </p:sp>
      <p:sp>
        <p:nvSpPr>
          <p:cNvPr id="7" name="Text 4"/>
          <p:cNvSpPr/>
          <p:nvPr/>
        </p:nvSpPr>
        <p:spPr>
          <a:xfrm>
            <a:off x="965200" y="4282348"/>
            <a:ext cx="5023104"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Compare every object relative to all the others.</a:t>
            </a:r>
            <a:endParaRPr lang="en-US" sz="1400" dirty="0"/>
          </a:p>
        </p:txBody>
      </p:sp>
      <p:sp>
        <p:nvSpPr>
          <p:cNvPr id="8" name="Shape 5"/>
          <p:cNvSpPr/>
          <p:nvPr/>
        </p:nvSpPr>
        <p:spPr>
          <a:xfrm>
            <a:off x="6197600" y="1508720"/>
            <a:ext cx="5181600" cy="3469481"/>
          </a:xfrm>
          <a:prstGeom prst="roundRect">
            <a:avLst>
              <a:gd name="adj" fmla="val 3660"/>
            </a:avLst>
          </a:prstGeom>
          <a:solidFill>
            <a:srgbClr val="FFFFFF"/>
          </a:solidFill>
          <a:ln/>
        </p:spPr>
      </p:sp>
      <p:sp>
        <p:nvSpPr>
          <p:cNvPr id="9" name="Shape 6"/>
          <p:cNvSpPr/>
          <p:nvPr/>
        </p:nvSpPr>
        <p:spPr>
          <a:xfrm>
            <a:off x="6197600" y="1508720"/>
            <a:ext cx="5181600" cy="3469481"/>
          </a:xfrm>
          <a:custGeom>
            <a:avLst/>
            <a:gdLst/>
            <a:ahLst/>
            <a:cxnLst/>
            <a:rect l="l" t="t" r="r" b="b"/>
            <a:pathLst>
              <a:path w="5181600" h="3469481">
                <a:moveTo>
                  <a:pt x="5181600" y="3342481"/>
                </a:moveTo>
                <a:lnTo>
                  <a:pt x="5181600" y="3342481"/>
                </a:lnTo>
                <a:arcTo hR="127000" wR="127000" stAng="0" swAng="5400000"/>
                <a:lnTo>
                  <a:pt x="127000" y="3469481"/>
                </a:lnTo>
                <a:arcTo hR="127000" wR="127000" stAng="5400000" swAng="5400000"/>
                <a:lnTo>
                  <a:pt x="0" y="3342481"/>
                </a:lnTo>
                <a:arcTo hR="63500" wR="127000" stAng="10800000" swAng="-5400000"/>
                <a:lnTo>
                  <a:pt x="5054600" y="3405981"/>
                </a:lnTo>
                <a:arcTo hR="63500" wR="127000" stAng="5400000" swAng="-5400000"/>
                <a:close/>
              </a:path>
            </a:pathLst>
          </a:custGeom>
          <a:solidFill>
            <a:srgbClr val="B45309"/>
          </a:solidFill>
          <a:ln/>
        </p:spPr>
      </p:sp>
      <p:pic>
        <p:nvPicPr>
          <p:cNvPr id="10" name="Image 1" descr="Schematic: one object joined only to the few objects inside a circle around it">    </p:cNvPr>
          <p:cNvPicPr>
            <a:picLocks noChangeAspect="1"/>
          </p:cNvPicPr>
          <p:nvPr/>
        </p:nvPicPr>
        <p:blipFill>
          <a:blip r:embed="rId2"/>
          <a:srcRect l="0" r="0" t="0" b="0"/>
          <a:stretch/>
        </p:blipFill>
        <p:spPr>
          <a:xfrm>
            <a:off x="6350000" y="1661120"/>
            <a:ext cx="4826000" cy="2159000"/>
          </a:xfrm>
          <a:prstGeom prst="rect">
            <a:avLst/>
          </a:prstGeom>
        </p:spPr>
      </p:pic>
      <p:sp>
        <p:nvSpPr>
          <p:cNvPr id="11" name="Text 7"/>
          <p:cNvSpPr/>
          <p:nvPr/>
        </p:nvSpPr>
        <p:spPr>
          <a:xfrm>
            <a:off x="6350000" y="3921720"/>
            <a:ext cx="502310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309"/>
                </a:solidFill>
                <a:latin typeface="IBM Plex Sans" pitchFamily="34" charset="0"/>
                <a:ea typeface="IBM Plex Sans" pitchFamily="34" charset="-122"/>
                <a:cs typeface="IBM Plex Sans" pitchFamily="34" charset="-120"/>
              </a:rPr>
              <a:t>Our way</a:t>
            </a:r>
            <a:endParaRPr lang="en-US" sz="1700" dirty="0"/>
          </a:p>
        </p:txBody>
      </p:sp>
      <p:sp>
        <p:nvSpPr>
          <p:cNvPr id="12" name="Text 8"/>
          <p:cNvSpPr/>
          <p:nvPr/>
        </p:nvSpPr>
        <p:spPr>
          <a:xfrm>
            <a:off x="6350000" y="4282348"/>
            <a:ext cx="5023104"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Compare only the objects close by. Far-away ones cannot collide soon.</a:t>
            </a:r>
            <a:endParaRPr lang="en-US" sz="1400" dirty="0"/>
          </a:p>
        </p:txBody>
      </p:sp>
      <p:sp>
        <p:nvSpPr>
          <p:cNvPr id="13" name="Text 9"/>
          <p:cNvSpPr/>
          <p:nvPr/>
        </p:nvSpPr>
        <p:spPr>
          <a:xfrm>
            <a:off x="812800" y="5206802"/>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A fast </a:t>
            </a:r>
            <a:r>
              <a:rPr lang="en-US" sz="1600" b="1" dirty="0">
                <a:solidFill>
                  <a:srgbClr val="14213D"/>
                </a:solidFill>
                <a:latin typeface="IBM Plex Sans" pitchFamily="34" charset="0"/>
                <a:ea typeface="IBM Plex Sans" pitchFamily="34" charset="-122"/>
                <a:cs typeface="IBM Plex Sans" pitchFamily="34" charset="-120"/>
              </a:rPr>
              <a:t>filing system for positions</a:t>
            </a:r>
            <a:r>
              <a:rPr lang="en-US" sz="1600" dirty="0">
                <a:solidFill>
                  <a:srgbClr val="14213D"/>
                </a:solidFill>
                <a:latin typeface="IBM Plex Sans" pitchFamily="34" charset="0"/>
                <a:ea typeface="IBM Plex Sans" pitchFamily="34" charset="-122"/>
                <a:cs typeface="IBM Plex Sans" pitchFamily="34" charset="-120"/>
              </a:rPr>
              <a:t> tells us who is nearby almost instantly. We built two: a </a:t>
            </a:r>
            <a:r>
              <a:rPr lang="en-US" sz="1600" b="1" dirty="0">
                <a:solidFill>
                  <a:srgbClr val="14213D"/>
                </a:solidFill>
                <a:latin typeface="IBM Plex Sans" pitchFamily="34" charset="0"/>
                <a:ea typeface="IBM Plex Sans" pitchFamily="34" charset="-122"/>
                <a:cs typeface="IBM Plex Sans" pitchFamily="34" charset="-120"/>
              </a:rPr>
              <a:t>grid</a:t>
            </a:r>
            <a:r>
              <a:rPr lang="en-US" sz="1600" dirty="0">
                <a:solidFill>
                  <a:srgbClr val="14213D"/>
                </a:solidFill>
                <a:latin typeface="IBM Plex Sans" pitchFamily="34" charset="0"/>
                <a:ea typeface="IBM Plex Sans" pitchFamily="34" charset="-122"/>
                <a:cs typeface="IBM Plex Sans" pitchFamily="34" charset="-120"/>
              </a:rPr>
              <a:t> (objects sorted into map squares) and a </a:t>
            </a:r>
            <a:r>
              <a:rPr lang="en-US" sz="1600" b="1" dirty="0">
                <a:solidFill>
                  <a:srgbClr val="14213D"/>
                </a:solidFill>
                <a:latin typeface="IBM Plex Sans" pitchFamily="34" charset="0"/>
                <a:ea typeface="IBM Plex Sans" pitchFamily="34" charset="-122"/>
                <a:cs typeface="IBM Plex Sans" pitchFamily="34" charset="-120"/>
              </a:rPr>
              <a:t>k-d tree</a:t>
            </a:r>
            <a:r>
              <a:rPr lang="en-US" sz="1600" dirty="0">
                <a:solidFill>
                  <a:srgbClr val="14213D"/>
                </a:solidFill>
                <a:latin typeface="IBM Plex Sans" pitchFamily="34" charset="0"/>
                <a:ea typeface="IBM Plex Sans" pitchFamily="34" charset="-122"/>
                <a:cs typeface="IBM Plex Sans" pitchFamily="34" charset="-120"/>
              </a:rPr>
              <a:t> (space split in half, again and again).</a:t>
            </a:r>
            <a:endParaRPr lang="en-US" sz="1600" dirty="0"/>
          </a:p>
        </p:txBody>
      </p:sp>
      <p:sp>
        <p:nvSpPr>
          <p:cNvPr id="14"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Diagram for schematic representations only</a:t>
            </a:r>
            <a:endParaRPr lang="en-US" sz="1200" dirty="0"/>
          </a:p>
        </p:txBody>
      </p:sp>
      <p:sp>
        <p:nvSpPr>
          <p:cNvPr id="15"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 / 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6096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45309"/>
                </a:solidFill>
                <a:latin typeface="IBM Plex Sans" pitchFamily="34" charset="0"/>
                <a:ea typeface="IBM Plex Sans" pitchFamily="34" charset="-122"/>
                <a:cs typeface="IBM Plex Sans" pitchFamily="34" charset="-120"/>
              </a:rPr>
              <a:t>THE PROOF</a:t>
            </a:r>
            <a:endParaRPr lang="en-US" sz="1400" dirty="0"/>
          </a:p>
        </p:txBody>
      </p:sp>
      <p:sp>
        <p:nvSpPr>
          <p:cNvPr id="3" name="Text 1"/>
          <p:cNvSpPr/>
          <p:nvPr>
            <p:ph type="title"/>
          </p:nvPr>
        </p:nvSpPr>
        <p:spPr>
          <a:xfrm>
            <a:off x="812800" y="934707"/>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How we know we never miss one</a:t>
            </a:r>
            <a:endParaRPr lang="en-US" sz="3200" dirty="0"/>
          </a:p>
        </p:txBody>
      </p:sp>
      <p:sp>
        <p:nvSpPr>
          <p:cNvPr id="4" name="Shape 2"/>
          <p:cNvSpPr/>
          <p:nvPr/>
        </p:nvSpPr>
        <p:spPr>
          <a:xfrm>
            <a:off x="812800" y="1635720"/>
            <a:ext cx="5181600" cy="3202517"/>
          </a:xfrm>
          <a:prstGeom prst="roundRect">
            <a:avLst>
              <a:gd name="adj" fmla="val 3966"/>
            </a:avLst>
          </a:prstGeom>
          <a:solidFill>
            <a:srgbClr val="FFFFFF"/>
          </a:solidFill>
          <a:ln/>
        </p:spPr>
      </p:sp>
      <p:sp>
        <p:nvSpPr>
          <p:cNvPr id="5" name="Shape 3"/>
          <p:cNvSpPr/>
          <p:nvPr/>
        </p:nvSpPr>
        <p:spPr>
          <a:xfrm>
            <a:off x="812800" y="1635720"/>
            <a:ext cx="5181600" cy="3202517"/>
          </a:xfrm>
          <a:custGeom>
            <a:avLst/>
            <a:gdLst/>
            <a:ahLst/>
            <a:cxnLst/>
            <a:rect l="l" t="t" r="r" b="b"/>
            <a:pathLst>
              <a:path w="5181600" h="3202517">
                <a:moveTo>
                  <a:pt x="0" y="127000"/>
                </a:moveTo>
                <a:lnTo>
                  <a:pt x="0" y="127000"/>
                </a:lnTo>
                <a:arcTo hR="127000" wR="127000" stAng="10800000" swAng="5400000"/>
                <a:lnTo>
                  <a:pt x="5054600" y="0"/>
                </a:lnTo>
                <a:arcTo hR="127000" wR="127000" stAng="16200000" swAng="5400000"/>
                <a:lnTo>
                  <a:pt x="5181600" y="127000"/>
                </a:lnTo>
                <a:arcTo hR="63500" wR="127000" stAng="0" swAng="-5400000"/>
                <a:lnTo>
                  <a:pt x="127000" y="63500"/>
                </a:lnTo>
                <a:arcTo hR="63500" wR="127000" stAng="16200000" swAng="-5400000"/>
                <a:close/>
              </a:path>
            </a:pathLst>
          </a:custGeom>
          <a:solidFill>
            <a:srgbClr val="14213D"/>
          </a:solidFill>
          <a:ln/>
        </p:spPr>
      </p:sp>
      <p:sp>
        <p:nvSpPr>
          <p:cNvPr id="6" name="Text 4"/>
          <p:cNvSpPr/>
          <p:nvPr/>
        </p:nvSpPr>
        <p:spPr>
          <a:xfrm>
            <a:off x="1066800" y="1953220"/>
            <a:ext cx="481380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1 · The rule</a:t>
            </a:r>
            <a:endParaRPr lang="en-US" sz="2200" dirty="0"/>
          </a:p>
        </p:txBody>
      </p:sp>
      <p:sp>
        <p:nvSpPr>
          <p:cNvPr id="7" name="Text 5"/>
          <p:cNvSpPr/>
          <p:nvPr/>
        </p:nvSpPr>
        <p:spPr>
          <a:xfrm>
            <a:off x="1066800" y="2440848"/>
            <a:ext cx="4813808"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Objects can only close the gap between them so fast. If a pair starts farther apart with no possibility of ever meeting, they </a:t>
            </a:r>
            <a:r>
              <a:rPr lang="en-US" sz="1600" b="1" dirty="0">
                <a:solidFill>
                  <a:srgbClr val="14213D"/>
                </a:solidFill>
                <a:latin typeface="IBM Plex Sans" pitchFamily="34" charset="0"/>
                <a:ea typeface="IBM Plex Sans" pitchFamily="34" charset="-122"/>
                <a:cs typeface="IBM Plex Sans" pitchFamily="34" charset="-120"/>
              </a:rPr>
              <a:t>cannot meet.</a:t>
            </a:r>
            <a:r>
              <a:rPr lang="en-US" sz="1600" dirty="0">
                <a:solidFill>
                  <a:srgbClr val="14213D"/>
                </a:solidFill>
                <a:latin typeface="IBM Plex Sans" pitchFamily="34" charset="0"/>
                <a:ea typeface="IBM Plex Sans" pitchFamily="34" charset="-122"/>
                <a:cs typeface="IBM Plex Sans" pitchFamily="34" charset="-120"/>
              </a:rPr>
              <a:t> So skipping them is safe.</a:t>
            </a:r>
            <a:endParaRPr lang="en-US" sz="1600" dirty="0"/>
          </a:p>
        </p:txBody>
      </p:sp>
      <p:sp>
        <p:nvSpPr>
          <p:cNvPr id="8" name="Text 6"/>
          <p:cNvSpPr/>
          <p:nvPr/>
        </p:nvSpPr>
        <p:spPr>
          <a:xfrm>
            <a:off x="1066800" y="3730957"/>
            <a:ext cx="481380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577"/>
                </a:solidFill>
                <a:latin typeface="IBM Plex Sans" pitchFamily="34" charset="0"/>
                <a:ea typeface="IBM Plex Sans" pitchFamily="34" charset="-122"/>
                <a:cs typeface="IBM Plex Sans" pitchFamily="34" charset="-120"/>
              </a:rPr>
              <a:t>Like two cars 100 km apart that can only drive so fast: they cannot meet in the next minute.</a:t>
            </a:r>
            <a:endParaRPr lang="en-US" sz="1400" dirty="0"/>
          </a:p>
        </p:txBody>
      </p:sp>
      <p:sp>
        <p:nvSpPr>
          <p:cNvPr id="9" name="Shape 7"/>
          <p:cNvSpPr/>
          <p:nvPr/>
        </p:nvSpPr>
        <p:spPr>
          <a:xfrm>
            <a:off x="6197600" y="1635720"/>
            <a:ext cx="5181600" cy="3202517"/>
          </a:xfrm>
          <a:prstGeom prst="roundRect">
            <a:avLst>
              <a:gd name="adj" fmla="val 3966"/>
            </a:avLst>
          </a:prstGeom>
          <a:solidFill>
            <a:srgbClr val="FFFFFF"/>
          </a:solidFill>
          <a:ln/>
        </p:spPr>
      </p:sp>
      <p:sp>
        <p:nvSpPr>
          <p:cNvPr id="10" name="Shape 8"/>
          <p:cNvSpPr/>
          <p:nvPr/>
        </p:nvSpPr>
        <p:spPr>
          <a:xfrm>
            <a:off x="6197600" y="1635720"/>
            <a:ext cx="5181600" cy="3202517"/>
          </a:xfrm>
          <a:custGeom>
            <a:avLst/>
            <a:gdLst/>
            <a:ahLst/>
            <a:cxnLst/>
            <a:rect l="l" t="t" r="r" b="b"/>
            <a:pathLst>
              <a:path w="5181600" h="3202517">
                <a:moveTo>
                  <a:pt x="0" y="127000"/>
                </a:moveTo>
                <a:lnTo>
                  <a:pt x="0" y="127000"/>
                </a:lnTo>
                <a:arcTo hR="127000" wR="127000" stAng="10800000" swAng="5400000"/>
                <a:lnTo>
                  <a:pt x="5054600" y="0"/>
                </a:lnTo>
                <a:arcTo hR="127000" wR="127000" stAng="16200000" swAng="5400000"/>
                <a:lnTo>
                  <a:pt x="5181600" y="127000"/>
                </a:lnTo>
                <a:arcTo hR="63500" wR="127000" stAng="0" swAng="-5400000"/>
                <a:lnTo>
                  <a:pt x="127000" y="63500"/>
                </a:lnTo>
                <a:arcTo hR="63500" wR="127000" stAng="16200000" swAng="-5400000"/>
                <a:close/>
              </a:path>
            </a:pathLst>
          </a:custGeom>
          <a:solidFill>
            <a:srgbClr val="B45309"/>
          </a:solidFill>
          <a:ln/>
        </p:spPr>
      </p:sp>
      <p:sp>
        <p:nvSpPr>
          <p:cNvPr id="11" name="Text 9"/>
          <p:cNvSpPr/>
          <p:nvPr/>
        </p:nvSpPr>
        <p:spPr>
          <a:xfrm>
            <a:off x="6451600" y="1953220"/>
            <a:ext cx="4813808"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B45309"/>
                </a:solidFill>
                <a:latin typeface="Space Grotesk" pitchFamily="34" charset="0"/>
                <a:ea typeface="Space Grotesk" pitchFamily="34" charset="-122"/>
                <a:cs typeface="Space Grotesk" pitchFamily="34" charset="-120"/>
              </a:rPr>
              <a:t>2 · The test</a:t>
            </a:r>
            <a:endParaRPr lang="en-US" sz="2200" dirty="0"/>
          </a:p>
        </p:txBody>
      </p:sp>
      <p:sp>
        <p:nvSpPr>
          <p:cNvPr id="12" name="Text 10"/>
          <p:cNvSpPr/>
          <p:nvPr/>
        </p:nvSpPr>
        <p:spPr>
          <a:xfrm>
            <a:off x="6451600" y="2440848"/>
            <a:ext cx="4813808"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We ran our fast methods and the slow "check-everything" method on the same data. The list of close-pairs was </a:t>
            </a:r>
            <a:r>
              <a:rPr lang="en-US" sz="1600" b="1" dirty="0">
                <a:solidFill>
                  <a:srgbClr val="14213D"/>
                </a:solidFill>
                <a:latin typeface="IBM Plex Sans" pitchFamily="34" charset="0"/>
                <a:ea typeface="IBM Plex Sans" pitchFamily="34" charset="-122"/>
                <a:cs typeface="IBM Plex Sans" pitchFamily="34" charset="-120"/>
              </a:rPr>
              <a:t>exactly the same</a:t>
            </a:r>
            <a:r>
              <a:rPr lang="en-US" sz="1600" dirty="0">
                <a:solidFill>
                  <a:srgbClr val="14213D"/>
                </a:solidFill>
                <a:latin typeface="IBM Plex Sans" pitchFamily="34" charset="0"/>
                <a:ea typeface="IBM Plex Sans" pitchFamily="34" charset="-122"/>
                <a:cs typeface="IBM Plex Sans" pitchFamily="34" charset="-120"/>
              </a:rPr>
              <a:t> every time:</a:t>
            </a:r>
            <a:endParaRPr lang="en-US" sz="1600" dirty="0"/>
          </a:p>
        </p:txBody>
      </p:sp>
      <p:sp>
        <p:nvSpPr>
          <p:cNvPr id="13" name="Text 11"/>
          <p:cNvSpPr/>
          <p:nvPr/>
        </p:nvSpPr>
        <p:spPr>
          <a:xfrm>
            <a:off x="6509258" y="3446529"/>
            <a:ext cx="4748530" cy="1163108"/>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b="1" dirty="0">
                <a:solidFill>
                  <a:srgbClr val="14213D"/>
                </a:solidFill>
                <a:latin typeface="IBM Plex Sans" pitchFamily="34" charset="0"/>
                <a:ea typeface="IBM Plex Sans" pitchFamily="34" charset="-122"/>
                <a:cs typeface="IBM Plex Sans" pitchFamily="34" charset="-120"/>
              </a:rPr>
              <a:t>88 of 88</a:t>
            </a:r>
            <a:r>
              <a:rPr lang="en-US" sz="1600" dirty="0">
                <a:solidFill>
                  <a:srgbClr val="14213D"/>
                </a:solidFill>
                <a:latin typeface="IBM Plex Sans" pitchFamily="34" charset="0"/>
                <a:ea typeface="IBM Plex Sans" pitchFamily="34" charset="-122"/>
                <a:cs typeface="IBM Plex Sans" pitchFamily="34" charset="-120"/>
              </a:rPr>
              <a:t> runs on synthetic data (modeled over real data).</a:t>
            </a:r>
            <a:endParaRPr lang="en-US" sz="1600" dirty="0"/>
          </a:p>
          <a:p>
            <a:pPr algn="l" marL="196342" indent="-196342">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a 20,000-object synthetic catalogue</a:t>
            </a:r>
            <a:endParaRPr lang="en-US" sz="1600" dirty="0"/>
          </a:p>
          <a:p>
            <a:pPr algn="l" marL="196342" indent="-196342">
              <a:lnSpc>
                <a:spcPts val="2240"/>
              </a:lnSpc>
              <a:buSzPct val="100000"/>
              <a:buChar char="•"/>
            </a:pPr>
            <a:r>
              <a:rPr lang="en-US" sz="1600" dirty="0">
                <a:solidFill>
                  <a:srgbClr val="14213D"/>
                </a:solidFill>
                <a:latin typeface="IBM Plex Sans" pitchFamily="34" charset="0"/>
                <a:ea typeface="IBM Plex Sans" pitchFamily="34" charset="-122"/>
                <a:cs typeface="IBM Plex Sans" pitchFamily="34" charset="-120"/>
              </a:rPr>
              <a:t>the real catalogue of 18,191 objects</a:t>
            </a:r>
            <a:endParaRPr lang="en-US" sz="1600" dirty="0"/>
          </a:p>
        </p:txBody>
      </p:sp>
      <p:sp>
        <p:nvSpPr>
          <p:cNvPr id="14" name="Text 12"/>
          <p:cNvSpPr/>
          <p:nvPr/>
        </p:nvSpPr>
        <p:spPr>
          <a:xfrm>
            <a:off x="812800" y="5092238"/>
            <a:ext cx="10883392" cy="316839"/>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B45309"/>
                </a:solidFill>
                <a:latin typeface="IBM Plex Sans" pitchFamily="34" charset="0"/>
                <a:ea typeface="IBM Plex Sans" pitchFamily="34" charset="-122"/>
                <a:cs typeface="IBM Plex Sans" pitchFamily="34" charset="-120"/>
              </a:rPr>
              <a:t>Faster, and not one close pair lost.</a:t>
            </a:r>
            <a:endParaRPr lang="en-US" sz="1700" dirty="0"/>
          </a:p>
        </p:txBody>
      </p:sp>
      <p:sp>
        <p:nvSpPr>
          <p:cNvPr id="15" name="Text 13"/>
          <p:cNvSpPr/>
          <p:nvPr/>
        </p:nvSpPr>
        <p:spPr>
          <a:xfrm>
            <a:off x="812800" y="6238280"/>
            <a:ext cx="8575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Source: report Section 7.1, results/c7_scaling.csv · “synthetic” = generated locally with a known answer</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 / 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5080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45309"/>
                </a:solidFill>
                <a:latin typeface="IBM Plex Sans" pitchFamily="34" charset="0"/>
                <a:ea typeface="IBM Plex Sans" pitchFamily="34" charset="-122"/>
                <a:cs typeface="IBM Plex Sans" pitchFamily="34" charset="-120"/>
              </a:rPr>
              <a:t>BETTER THAN THE OBVIOUS WAY</a:t>
            </a:r>
            <a:endParaRPr lang="en-US" sz="1400" dirty="0"/>
          </a:p>
        </p:txBody>
      </p:sp>
      <p:sp>
        <p:nvSpPr>
          <p:cNvPr id="3" name="Text 1"/>
          <p:cNvSpPr/>
          <p:nvPr>
            <p:ph type="title"/>
          </p:nvPr>
        </p:nvSpPr>
        <p:spPr>
          <a:xfrm>
            <a:off x="812800" y="833109"/>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Same answer, up to 10× faster</a:t>
            </a:r>
            <a:endParaRPr lang="en-US" sz="3200" dirty="0"/>
          </a:p>
        </p:txBody>
      </p:sp>
      <p:sp>
        <p:nvSpPr>
          <p:cNvPr id="4" name="Shape 2"/>
          <p:cNvSpPr/>
          <p:nvPr/>
        </p:nvSpPr>
        <p:spPr>
          <a:xfrm>
            <a:off x="812800" y="1546690"/>
            <a:ext cx="5003800" cy="3957241"/>
          </a:xfrm>
          <a:prstGeom prst="roundRect">
            <a:avLst>
              <a:gd name="adj" fmla="val 3209"/>
            </a:avLst>
          </a:prstGeom>
          <a:solidFill>
            <a:srgbClr val="FFFFFF"/>
          </a:solidFill>
          <a:ln/>
        </p:spPr>
      </p:sp>
      <p:pic>
        <p:nvPicPr>
          <p:cNvPr id="5" name="Image 0" descr="Chart of computing time against number of objects: checking everyone grows steeply, while our k-d tree and grid methods grow much more slowly">    </p:cNvPr>
          <p:cNvPicPr>
            <a:picLocks noChangeAspect="1"/>
          </p:cNvPicPr>
          <p:nvPr/>
        </p:nvPicPr>
        <p:blipFill>
          <a:blip r:embed="rId1"/>
          <a:srcRect l="0" r="0" t="-772" b="-772"/>
          <a:stretch/>
        </p:blipFill>
        <p:spPr>
          <a:xfrm>
            <a:off x="965200" y="1699090"/>
            <a:ext cx="4699000" cy="3130550"/>
          </a:xfrm>
          <a:prstGeom prst="rect">
            <a:avLst/>
          </a:prstGeom>
        </p:spPr>
      </p:pic>
      <p:sp>
        <p:nvSpPr>
          <p:cNvPr id="6" name="Text 3"/>
          <p:cNvSpPr/>
          <p:nvPr/>
        </p:nvSpPr>
        <p:spPr>
          <a:xfrm>
            <a:off x="965200" y="4905840"/>
            <a:ext cx="4839970" cy="471091"/>
          </a:xfrm>
          <a:prstGeom prst="rect">
            <a:avLst/>
          </a:prstGeom>
          <a:noFill/>
          <a:ln/>
        </p:spPr>
        <p:txBody>
          <a:bodyPr wrap="square" lIns="0" tIns="0" rIns="0" bIns="0" rtlCol="0" anchor="t">
            <a:normAutofit/>
          </a:bodyPr>
          <a:lstStyle/>
          <a:p>
            <a:pPr algn="l" indent="0" marL="0">
              <a:lnSpc>
                <a:spcPts val="1755"/>
              </a:lnSpc>
              <a:buNone/>
            </a:pPr>
            <a:r>
              <a:rPr lang="en-US" sz="1300" i="1" dirty="0">
                <a:solidFill>
                  <a:srgbClr val="5A6577"/>
                </a:solidFill>
                <a:latin typeface="IBM Plex Sans" pitchFamily="34" charset="0"/>
                <a:ea typeface="IBM Plex Sans" pitchFamily="34" charset="-122"/>
                <a:cs typeface="IBM Plex Sans" pitchFamily="34" charset="-120"/>
              </a:rPr>
              <a:t>Lower is faster.</a:t>
            </a:r>
            <a:r>
              <a:rPr lang="en-US" sz="1300" dirty="0">
                <a:solidFill>
                  <a:srgbClr val="5A6577"/>
                </a:solidFill>
                <a:latin typeface="IBM Plex Sans" pitchFamily="34" charset="0"/>
                <a:ea typeface="IBM Plex Sans" pitchFamily="34" charset="-122"/>
                <a:cs typeface="IBM Plex Sans" pitchFamily="34" charset="-120"/>
              </a:rPr>
              <a:t> Grey: "check-everyone". Blue and gold: our two methods.</a:t>
            </a:r>
            <a:endParaRPr lang="en-US" sz="1300" dirty="0"/>
          </a:p>
        </p:txBody>
      </p:sp>
      <p:sp>
        <p:nvSpPr>
          <p:cNvPr id="7" name="Shape 4"/>
          <p:cNvSpPr/>
          <p:nvPr/>
        </p:nvSpPr>
        <p:spPr>
          <a:xfrm>
            <a:off x="6070600" y="1483320"/>
            <a:ext cx="5308600" cy="1509845"/>
          </a:xfrm>
          <a:prstGeom prst="roundRect">
            <a:avLst>
              <a:gd name="adj" fmla="val 8411"/>
            </a:avLst>
          </a:prstGeom>
          <a:solidFill>
            <a:srgbClr val="FFFFFF"/>
          </a:solidFill>
          <a:ln/>
        </p:spPr>
      </p:sp>
      <p:sp>
        <p:nvSpPr>
          <p:cNvPr id="8" name="Text 5"/>
          <p:cNvSpPr/>
          <p:nvPr/>
        </p:nvSpPr>
        <p:spPr>
          <a:xfrm>
            <a:off x="6273800" y="1635720"/>
            <a:ext cx="504926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Space Grotesk" pitchFamily="34" charset="0"/>
                <a:ea typeface="Space Grotesk" pitchFamily="34" charset="-122"/>
                <a:cs typeface="Space Grotesk" pitchFamily="34" charset="-120"/>
              </a:rPr>
              <a:t>10× faster</a:t>
            </a:r>
            <a:endParaRPr lang="en-US" sz="3200" dirty="0"/>
          </a:p>
        </p:txBody>
      </p:sp>
      <p:sp>
        <p:nvSpPr>
          <p:cNvPr id="9" name="Text 6"/>
          <p:cNvSpPr/>
          <p:nvPr/>
        </p:nvSpPr>
        <p:spPr>
          <a:xfrm>
            <a:off x="6352032" y="2120835"/>
            <a:ext cx="4963414" cy="745331"/>
          </a:xfrm>
          <a:prstGeom prst="rect">
            <a:avLst/>
          </a:prstGeom>
          <a:noFill/>
          <a:ln/>
        </p:spPr>
        <p:txBody>
          <a:bodyPr wrap="square" lIns="0" tIns="0" rIns="0" bIns="0" rtlCol="0" anchor="t">
            <a:normAutofit/>
          </a:bodyPr>
          <a:lstStyle/>
          <a:p>
            <a:pPr algn="l" marL="175768" indent="-175768">
              <a:lnSpc>
                <a:spcPts val="1890"/>
              </a:lnSpc>
              <a:buSzPct val="100000"/>
              <a:buChar char="•"/>
            </a:pPr>
            <a:r>
              <a:rPr lang="en-US" sz="1400" dirty="0">
                <a:solidFill>
                  <a:srgbClr val="2C3A52"/>
                </a:solidFill>
                <a:latin typeface="IBM Plex Sans" pitchFamily="34" charset="0"/>
                <a:ea typeface="IBM Plex Sans" pitchFamily="34" charset="-122"/>
                <a:cs typeface="IBM Plex Sans" pitchFamily="34" charset="-120"/>
              </a:rPr>
              <a:t>at 20,000 objects</a:t>
            </a:r>
            <a:endParaRPr lang="en-US" sz="1400" dirty="0"/>
          </a:p>
          <a:p>
            <a:pPr algn="l" marL="175768" indent="-175768">
              <a:lnSpc>
                <a:spcPts val="1890"/>
              </a:lnSpc>
              <a:buSzPct val="100000"/>
              <a:buChar char="•"/>
            </a:pPr>
            <a:r>
              <a:rPr lang="en-US" sz="1400" dirty="0">
                <a:solidFill>
                  <a:srgbClr val="2C3A52"/>
                </a:solidFill>
                <a:latin typeface="IBM Plex Sans" pitchFamily="34" charset="0"/>
                <a:ea typeface="IBM Plex Sans" pitchFamily="34" charset="-122"/>
                <a:cs typeface="IBM Plex Sans" pitchFamily="34" charset="-120"/>
              </a:rPr>
              <a:t>with 15,000x fewer checks</a:t>
            </a:r>
            <a:endParaRPr lang="en-US" sz="1400" dirty="0"/>
          </a:p>
          <a:p>
            <a:pPr algn="l" marL="175768" indent="-175768">
              <a:lnSpc>
                <a:spcPts val="1890"/>
              </a:lnSpc>
              <a:buSzPct val="100000"/>
              <a:buChar char="•"/>
            </a:pPr>
            <a:r>
              <a:rPr lang="en-US" sz="1400" dirty="0">
                <a:solidFill>
                  <a:srgbClr val="2C3A52"/>
                </a:solidFill>
                <a:latin typeface="IBM Plex Sans" pitchFamily="34" charset="0"/>
                <a:ea typeface="IBM Plex Sans" pitchFamily="34" charset="-122"/>
                <a:cs typeface="IBM Plex Sans" pitchFamily="34" charset="-120"/>
              </a:rPr>
              <a:t>98 seconds down to under 10</a:t>
            </a:r>
            <a:endParaRPr lang="en-US" sz="1400" dirty="0"/>
          </a:p>
        </p:txBody>
      </p:sp>
      <p:sp>
        <p:nvSpPr>
          <p:cNvPr id="10" name="Shape 7"/>
          <p:cNvSpPr/>
          <p:nvPr/>
        </p:nvSpPr>
        <p:spPr>
          <a:xfrm>
            <a:off x="6070600" y="3120166"/>
            <a:ext cx="5308600" cy="1029891"/>
          </a:xfrm>
          <a:prstGeom prst="roundRect">
            <a:avLst>
              <a:gd name="adj" fmla="val 12331"/>
            </a:avLst>
          </a:prstGeom>
          <a:solidFill>
            <a:srgbClr val="FFFFFF"/>
          </a:solidFill>
          <a:ln/>
        </p:spPr>
      </p:sp>
      <p:sp>
        <p:nvSpPr>
          <p:cNvPr id="11" name="Text 8"/>
          <p:cNvSpPr/>
          <p:nvPr/>
        </p:nvSpPr>
        <p:spPr>
          <a:xfrm>
            <a:off x="6273800" y="3272566"/>
            <a:ext cx="504926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Space Grotesk" pitchFamily="34" charset="0"/>
                <a:ea typeface="Space Grotesk" pitchFamily="34" charset="-122"/>
                <a:cs typeface="Space Grotesk" pitchFamily="34" charset="-120"/>
              </a:rPr>
              <a:t>7× faster</a:t>
            </a:r>
            <a:endParaRPr lang="en-US" sz="3200" dirty="0"/>
          </a:p>
        </p:txBody>
      </p:sp>
      <p:sp>
        <p:nvSpPr>
          <p:cNvPr id="12" name="Text 9"/>
          <p:cNvSpPr/>
          <p:nvPr/>
        </p:nvSpPr>
        <p:spPr>
          <a:xfrm>
            <a:off x="6273800" y="3757681"/>
            <a:ext cx="5049266"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on the real catalogue: 102 seconds down to about 15</a:t>
            </a:r>
            <a:endParaRPr lang="en-US" sz="1400" dirty="0"/>
          </a:p>
        </p:txBody>
      </p:sp>
      <p:sp>
        <p:nvSpPr>
          <p:cNvPr id="13" name="Shape 10"/>
          <p:cNvSpPr/>
          <p:nvPr/>
        </p:nvSpPr>
        <p:spPr>
          <a:xfrm>
            <a:off x="6070600" y="4277057"/>
            <a:ext cx="5308600" cy="1290241"/>
          </a:xfrm>
          <a:prstGeom prst="roundRect">
            <a:avLst>
              <a:gd name="adj" fmla="val 9843"/>
            </a:avLst>
          </a:prstGeom>
          <a:solidFill>
            <a:srgbClr val="14213D"/>
          </a:solidFill>
          <a:ln/>
        </p:spPr>
      </p:sp>
      <p:sp>
        <p:nvSpPr>
          <p:cNvPr id="14" name="Text 11"/>
          <p:cNvSpPr/>
          <p:nvPr/>
        </p:nvSpPr>
        <p:spPr>
          <a:xfrm>
            <a:off x="6273800" y="4429457"/>
            <a:ext cx="504926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541"/>
                </a:solidFill>
                <a:latin typeface="IBM Plex Sans" pitchFamily="34" charset="0"/>
                <a:ea typeface="IBM Plex Sans" pitchFamily="34" charset="-122"/>
                <a:cs typeface="IBM Plex Sans" pitchFamily="34" charset="-120"/>
              </a:rPr>
              <a:t>What earlier work left open</a:t>
            </a:r>
            <a:endParaRPr lang="en-US" sz="1500" dirty="0"/>
          </a:p>
        </p:txBody>
      </p:sp>
      <p:sp>
        <p:nvSpPr>
          <p:cNvPr id="15" name="Text 12"/>
          <p:cNvSpPr/>
          <p:nvPr/>
        </p:nvSpPr>
        <p:spPr>
          <a:xfrm>
            <a:off x="6273800" y="4721557"/>
            <a:ext cx="504926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Our base paper (Gómez et al., 2022) did not compare different filing systems, or measure how the cost grows as objects are added. We did both.</a:t>
            </a:r>
            <a:endParaRPr lang="en-US" sz="13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Source: report Table 4 · one hour of orbit, 10 km screening distance, CPU seconds</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 /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5080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45309"/>
                </a:solidFill>
                <a:latin typeface="IBM Plex Sans" pitchFamily="34" charset="0"/>
                <a:ea typeface="IBM Plex Sans" pitchFamily="34" charset="-122"/>
                <a:cs typeface="IBM Plex Sans" pitchFamily="34" charset="-120"/>
              </a:rPr>
              <a:t>THE DATA STRUCTURES</a:t>
            </a:r>
            <a:endParaRPr lang="en-US" sz="1400" dirty="0"/>
          </a:p>
        </p:txBody>
      </p:sp>
      <p:sp>
        <p:nvSpPr>
          <p:cNvPr id="3" name="Text 1"/>
          <p:cNvSpPr/>
          <p:nvPr>
            <p:ph type="title"/>
          </p:nvPr>
        </p:nvSpPr>
        <p:spPr>
          <a:xfrm>
            <a:off x="812800" y="833109"/>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Ten tools, all built by hand</a:t>
            </a:r>
            <a:endParaRPr lang="en-US" sz="3200" dirty="0"/>
          </a:p>
        </p:txBody>
      </p:sp>
      <p:sp>
        <p:nvSpPr>
          <p:cNvPr id="4" name="Shape 2"/>
          <p:cNvSpPr/>
          <p:nvPr/>
        </p:nvSpPr>
        <p:spPr>
          <a:xfrm>
            <a:off x="812800" y="1483320"/>
            <a:ext cx="2011627" cy="1641938"/>
          </a:xfrm>
          <a:prstGeom prst="roundRect">
            <a:avLst>
              <a:gd name="adj" fmla="val 7735"/>
            </a:avLst>
          </a:prstGeom>
          <a:solidFill>
            <a:srgbClr val="FFFFFF"/>
          </a:solidFill>
          <a:ln/>
        </p:spPr>
      </p:sp>
      <p:sp>
        <p:nvSpPr>
          <p:cNvPr id="5" name="Text 3"/>
          <p:cNvSpPr/>
          <p:nvPr/>
        </p:nvSpPr>
        <p:spPr>
          <a:xfrm>
            <a:off x="990600" y="1623020"/>
            <a:ext cx="1706827"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Dynamic array</a:t>
            </a:r>
            <a:endParaRPr lang="en-US" sz="1700" dirty="0"/>
          </a:p>
        </p:txBody>
      </p:sp>
      <p:sp>
        <p:nvSpPr>
          <p:cNvPr id="6" name="Text 4"/>
          <p:cNvSpPr/>
          <p:nvPr/>
        </p:nvSpPr>
        <p:spPr>
          <a:xfrm>
            <a:off x="990600" y="1911285"/>
            <a:ext cx="1706827"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list that grows as needed</a:t>
            </a:r>
            <a:endParaRPr lang="en-US" sz="1300" dirty="0"/>
          </a:p>
        </p:txBody>
      </p:sp>
      <p:sp>
        <p:nvSpPr>
          <p:cNvPr id="7" name="Text 5"/>
          <p:cNvSpPr/>
          <p:nvPr/>
        </p:nvSpPr>
        <p:spPr>
          <a:xfrm>
            <a:off x="990600" y="2391240"/>
            <a:ext cx="170682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Holds the close calls and the network</a:t>
            </a:r>
            <a:endParaRPr lang="en-US" sz="1200" dirty="0"/>
          </a:p>
        </p:txBody>
      </p:sp>
      <p:sp>
        <p:nvSpPr>
          <p:cNvPr id="8" name="Shape 6"/>
          <p:cNvSpPr/>
          <p:nvPr/>
        </p:nvSpPr>
        <p:spPr>
          <a:xfrm>
            <a:off x="2951427" y="1483320"/>
            <a:ext cx="2011693" cy="1641938"/>
          </a:xfrm>
          <a:prstGeom prst="roundRect">
            <a:avLst>
              <a:gd name="adj" fmla="val 7735"/>
            </a:avLst>
          </a:prstGeom>
          <a:solidFill>
            <a:srgbClr val="FFFFFF"/>
          </a:solidFill>
          <a:ln/>
        </p:spPr>
      </p:sp>
      <p:sp>
        <p:nvSpPr>
          <p:cNvPr id="9" name="Text 7"/>
          <p:cNvSpPr/>
          <p:nvPr/>
        </p:nvSpPr>
        <p:spPr>
          <a:xfrm>
            <a:off x="3129227" y="162302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Linked list</a:t>
            </a:r>
            <a:endParaRPr lang="en-US" sz="1700" dirty="0"/>
          </a:p>
        </p:txBody>
      </p:sp>
      <p:sp>
        <p:nvSpPr>
          <p:cNvPr id="10" name="Text 8"/>
          <p:cNvSpPr/>
          <p:nvPr/>
        </p:nvSpPr>
        <p:spPr>
          <a:xfrm>
            <a:off x="3129227" y="1911285"/>
            <a:ext cx="17068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chain, each link pointing to the next</a:t>
            </a:r>
            <a:endParaRPr lang="en-US" sz="1300" dirty="0"/>
          </a:p>
        </p:txBody>
      </p:sp>
      <p:sp>
        <p:nvSpPr>
          <p:cNvPr id="11" name="Text 9"/>
          <p:cNvSpPr/>
          <p:nvPr/>
        </p:nvSpPr>
        <p:spPr>
          <a:xfrm>
            <a:off x="3129227" y="2391240"/>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Holds items sharing a lookup-table slot</a:t>
            </a:r>
            <a:endParaRPr lang="en-US" sz="1200" dirty="0"/>
          </a:p>
        </p:txBody>
      </p:sp>
      <p:sp>
        <p:nvSpPr>
          <p:cNvPr id="12" name="Shape 10"/>
          <p:cNvSpPr/>
          <p:nvPr/>
        </p:nvSpPr>
        <p:spPr>
          <a:xfrm>
            <a:off x="5090120" y="1483320"/>
            <a:ext cx="2011693" cy="1641938"/>
          </a:xfrm>
          <a:prstGeom prst="roundRect">
            <a:avLst>
              <a:gd name="adj" fmla="val 7735"/>
            </a:avLst>
          </a:prstGeom>
          <a:solidFill>
            <a:srgbClr val="FFFFFF"/>
          </a:solidFill>
          <a:ln/>
        </p:spPr>
      </p:sp>
      <p:sp>
        <p:nvSpPr>
          <p:cNvPr id="13" name="Text 11"/>
          <p:cNvSpPr/>
          <p:nvPr/>
        </p:nvSpPr>
        <p:spPr>
          <a:xfrm>
            <a:off x="5267920" y="162302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Hash table</a:t>
            </a:r>
            <a:endParaRPr lang="en-US" sz="1700" dirty="0"/>
          </a:p>
        </p:txBody>
      </p:sp>
      <p:sp>
        <p:nvSpPr>
          <p:cNvPr id="14" name="Text 12"/>
          <p:cNvSpPr/>
          <p:nvPr/>
        </p:nvSpPr>
        <p:spPr>
          <a:xfrm>
            <a:off x="5267920" y="1911285"/>
            <a:ext cx="17068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phone book: jump straight to an ID</a:t>
            </a:r>
            <a:endParaRPr lang="en-US" sz="1300" dirty="0"/>
          </a:p>
        </p:txBody>
      </p:sp>
      <p:sp>
        <p:nvSpPr>
          <p:cNvPr id="15" name="Text 13"/>
          <p:cNvSpPr/>
          <p:nvPr/>
        </p:nvSpPr>
        <p:spPr>
          <a:xfrm>
            <a:off x="5267920" y="2391240"/>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Finds any object by its ID</a:t>
            </a:r>
            <a:endParaRPr lang="en-US" sz="1200" dirty="0"/>
          </a:p>
        </p:txBody>
      </p:sp>
      <p:sp>
        <p:nvSpPr>
          <p:cNvPr id="16" name="Shape 14"/>
          <p:cNvSpPr/>
          <p:nvPr/>
        </p:nvSpPr>
        <p:spPr>
          <a:xfrm>
            <a:off x="7228814" y="1483320"/>
            <a:ext cx="2011693" cy="1641938"/>
          </a:xfrm>
          <a:prstGeom prst="roundRect">
            <a:avLst>
              <a:gd name="adj" fmla="val 7735"/>
            </a:avLst>
          </a:prstGeom>
          <a:solidFill>
            <a:srgbClr val="FFFFFF"/>
          </a:solidFill>
          <a:ln/>
        </p:spPr>
      </p:sp>
      <p:sp>
        <p:nvSpPr>
          <p:cNvPr id="17" name="Text 15"/>
          <p:cNvSpPr/>
          <p:nvPr/>
        </p:nvSpPr>
        <p:spPr>
          <a:xfrm>
            <a:off x="7406614" y="162302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Stack</a:t>
            </a:r>
            <a:endParaRPr lang="en-US" sz="1700" dirty="0"/>
          </a:p>
        </p:txBody>
      </p:sp>
      <p:sp>
        <p:nvSpPr>
          <p:cNvPr id="18" name="Text 16"/>
          <p:cNvSpPr/>
          <p:nvPr/>
        </p:nvSpPr>
        <p:spPr>
          <a:xfrm>
            <a:off x="7406614" y="1911285"/>
            <a:ext cx="17068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pile of plates: last in, first out</a:t>
            </a:r>
            <a:endParaRPr lang="en-US" sz="1300" dirty="0"/>
          </a:p>
        </p:txBody>
      </p:sp>
      <p:sp>
        <p:nvSpPr>
          <p:cNvPr id="19" name="Text 17"/>
          <p:cNvSpPr/>
          <p:nvPr/>
        </p:nvSpPr>
        <p:spPr>
          <a:xfrm>
            <a:off x="7406614" y="2391240"/>
            <a:ext cx="1706893"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Explores clumps; undoes steps in the search</a:t>
            </a:r>
            <a:endParaRPr lang="en-US" sz="1200" dirty="0"/>
          </a:p>
        </p:txBody>
      </p:sp>
      <p:sp>
        <p:nvSpPr>
          <p:cNvPr id="20" name="Shape 18"/>
          <p:cNvSpPr/>
          <p:nvPr/>
        </p:nvSpPr>
        <p:spPr>
          <a:xfrm>
            <a:off x="9367507" y="1483320"/>
            <a:ext cx="2011693" cy="1641938"/>
          </a:xfrm>
          <a:prstGeom prst="roundRect">
            <a:avLst>
              <a:gd name="adj" fmla="val 7735"/>
            </a:avLst>
          </a:prstGeom>
          <a:solidFill>
            <a:srgbClr val="FFFFFF"/>
          </a:solidFill>
          <a:ln/>
        </p:spPr>
      </p:sp>
      <p:sp>
        <p:nvSpPr>
          <p:cNvPr id="21" name="Text 19"/>
          <p:cNvSpPr/>
          <p:nvPr/>
        </p:nvSpPr>
        <p:spPr>
          <a:xfrm>
            <a:off x="9545307" y="162302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Queue</a:t>
            </a:r>
            <a:endParaRPr lang="en-US" sz="1700" dirty="0"/>
          </a:p>
        </p:txBody>
      </p:sp>
      <p:sp>
        <p:nvSpPr>
          <p:cNvPr id="22" name="Text 20"/>
          <p:cNvSpPr/>
          <p:nvPr/>
        </p:nvSpPr>
        <p:spPr>
          <a:xfrm>
            <a:off x="9545307" y="1911285"/>
            <a:ext cx="17068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waiting line: first in, first out</a:t>
            </a:r>
            <a:endParaRPr lang="en-US" sz="1300" dirty="0"/>
          </a:p>
        </p:txBody>
      </p:sp>
      <p:sp>
        <p:nvSpPr>
          <p:cNvPr id="23" name="Text 21"/>
          <p:cNvSpPr/>
          <p:nvPr/>
        </p:nvSpPr>
        <p:spPr>
          <a:xfrm>
            <a:off x="9545307" y="2391240"/>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Explores clumps level by level</a:t>
            </a:r>
            <a:endParaRPr lang="en-US" sz="1200" dirty="0"/>
          </a:p>
        </p:txBody>
      </p:sp>
      <p:sp>
        <p:nvSpPr>
          <p:cNvPr id="24" name="Shape 22"/>
          <p:cNvSpPr/>
          <p:nvPr/>
        </p:nvSpPr>
        <p:spPr>
          <a:xfrm>
            <a:off x="812800" y="3252260"/>
            <a:ext cx="2011627" cy="1658408"/>
          </a:xfrm>
          <a:prstGeom prst="roundRect">
            <a:avLst>
              <a:gd name="adj" fmla="val 7658"/>
            </a:avLst>
          </a:prstGeom>
          <a:solidFill>
            <a:srgbClr val="FFFFFF"/>
          </a:solidFill>
          <a:ln/>
        </p:spPr>
      </p:sp>
      <p:sp>
        <p:nvSpPr>
          <p:cNvPr id="25" name="Text 23"/>
          <p:cNvSpPr/>
          <p:nvPr/>
        </p:nvSpPr>
        <p:spPr>
          <a:xfrm>
            <a:off x="990600" y="3391960"/>
            <a:ext cx="1706827"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Binary heap</a:t>
            </a:r>
            <a:endParaRPr lang="en-US" sz="1700" dirty="0"/>
          </a:p>
        </p:txBody>
      </p:sp>
      <p:sp>
        <p:nvSpPr>
          <p:cNvPr id="26" name="Text 24"/>
          <p:cNvSpPr/>
          <p:nvPr/>
        </p:nvSpPr>
        <p:spPr>
          <a:xfrm>
            <a:off x="990600" y="3680222"/>
            <a:ext cx="1706827"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leaderboard: the top is always ready</a:t>
            </a:r>
            <a:endParaRPr lang="en-US" sz="1300" dirty="0"/>
          </a:p>
        </p:txBody>
      </p:sp>
      <p:sp>
        <p:nvSpPr>
          <p:cNvPr id="27" name="Text 25"/>
          <p:cNvSpPr/>
          <p:nvPr/>
        </p:nvSpPr>
        <p:spPr>
          <a:xfrm>
            <a:off x="990600" y="4160177"/>
            <a:ext cx="170682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Closest calls; the quick avoidance plan</a:t>
            </a:r>
            <a:endParaRPr lang="en-US" sz="1200" dirty="0"/>
          </a:p>
        </p:txBody>
      </p:sp>
      <p:sp>
        <p:nvSpPr>
          <p:cNvPr id="28" name="Shape 26"/>
          <p:cNvSpPr/>
          <p:nvPr/>
        </p:nvSpPr>
        <p:spPr>
          <a:xfrm>
            <a:off x="2951427" y="3252260"/>
            <a:ext cx="2011693" cy="1658408"/>
          </a:xfrm>
          <a:prstGeom prst="roundRect">
            <a:avLst>
              <a:gd name="adj" fmla="val 7658"/>
            </a:avLst>
          </a:prstGeom>
          <a:solidFill>
            <a:srgbClr val="FFFFFF"/>
          </a:solidFill>
          <a:ln/>
        </p:spPr>
      </p:sp>
      <p:sp>
        <p:nvSpPr>
          <p:cNvPr id="29" name="Text 27"/>
          <p:cNvSpPr/>
          <p:nvPr/>
        </p:nvSpPr>
        <p:spPr>
          <a:xfrm>
            <a:off x="3129227" y="339196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AVL tree</a:t>
            </a:r>
            <a:endParaRPr lang="en-US" sz="1700" dirty="0"/>
          </a:p>
        </p:txBody>
      </p:sp>
      <p:sp>
        <p:nvSpPr>
          <p:cNvPr id="30" name="Text 28"/>
          <p:cNvSpPr/>
          <p:nvPr/>
        </p:nvSpPr>
        <p:spPr>
          <a:xfrm>
            <a:off x="3129227" y="3680222"/>
            <a:ext cx="17068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sorted index that keeps itself balanced</a:t>
            </a:r>
            <a:endParaRPr lang="en-US" sz="1300" dirty="0"/>
          </a:p>
        </p:txBody>
      </p:sp>
      <p:sp>
        <p:nvSpPr>
          <p:cNvPr id="31" name="Text 29"/>
          <p:cNvSpPr/>
          <p:nvPr/>
        </p:nvSpPr>
        <p:spPr>
          <a:xfrm>
            <a:off x="3129227" y="4160177"/>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Timeline of close calls in time order</a:t>
            </a:r>
            <a:endParaRPr lang="en-US" sz="1200" dirty="0"/>
          </a:p>
        </p:txBody>
      </p:sp>
      <p:sp>
        <p:nvSpPr>
          <p:cNvPr id="32" name="Shape 30"/>
          <p:cNvSpPr/>
          <p:nvPr/>
        </p:nvSpPr>
        <p:spPr>
          <a:xfrm>
            <a:off x="5090120" y="3252260"/>
            <a:ext cx="2011693" cy="1658408"/>
          </a:xfrm>
          <a:prstGeom prst="roundRect">
            <a:avLst>
              <a:gd name="adj" fmla="val 7658"/>
            </a:avLst>
          </a:prstGeom>
          <a:solidFill>
            <a:srgbClr val="FFFFFF"/>
          </a:solidFill>
          <a:ln/>
        </p:spPr>
      </p:sp>
      <p:sp>
        <p:nvSpPr>
          <p:cNvPr id="33" name="Text 31"/>
          <p:cNvSpPr/>
          <p:nvPr/>
        </p:nvSpPr>
        <p:spPr>
          <a:xfrm>
            <a:off x="5267920" y="339196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k-d tree</a:t>
            </a:r>
            <a:endParaRPr lang="en-US" sz="1700" dirty="0"/>
          </a:p>
        </p:txBody>
      </p:sp>
      <p:sp>
        <p:nvSpPr>
          <p:cNvPr id="34" name="Text 32"/>
          <p:cNvSpPr/>
          <p:nvPr/>
        </p:nvSpPr>
        <p:spPr>
          <a:xfrm>
            <a:off x="5267920" y="3680222"/>
            <a:ext cx="1706893" cy="454554"/>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Cut space in halves again and again</a:t>
            </a:r>
            <a:endParaRPr lang="en-US" sz="1300" dirty="0"/>
          </a:p>
        </p:txBody>
      </p:sp>
      <p:sp>
        <p:nvSpPr>
          <p:cNvPr id="35" name="Text 33"/>
          <p:cNvSpPr/>
          <p:nvPr/>
        </p:nvSpPr>
        <p:spPr>
          <a:xfrm>
            <a:off x="5267920" y="4160177"/>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Finds nearby objects fast</a:t>
            </a:r>
            <a:endParaRPr lang="en-US" sz="1200" dirty="0"/>
          </a:p>
        </p:txBody>
      </p:sp>
      <p:sp>
        <p:nvSpPr>
          <p:cNvPr id="36" name="Shape 34"/>
          <p:cNvSpPr/>
          <p:nvPr/>
        </p:nvSpPr>
        <p:spPr>
          <a:xfrm>
            <a:off x="7228814" y="3252260"/>
            <a:ext cx="2011693" cy="1658408"/>
          </a:xfrm>
          <a:prstGeom prst="roundRect">
            <a:avLst>
              <a:gd name="adj" fmla="val 7658"/>
            </a:avLst>
          </a:prstGeom>
          <a:solidFill>
            <a:srgbClr val="FFFFFF"/>
          </a:solidFill>
          <a:ln/>
        </p:spPr>
      </p:sp>
      <p:sp>
        <p:nvSpPr>
          <p:cNvPr id="37" name="Text 35"/>
          <p:cNvSpPr/>
          <p:nvPr/>
        </p:nvSpPr>
        <p:spPr>
          <a:xfrm>
            <a:off x="7406614" y="339196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Hashed grid</a:t>
            </a:r>
            <a:endParaRPr lang="en-US" sz="1700" dirty="0"/>
          </a:p>
        </p:txBody>
      </p:sp>
      <p:sp>
        <p:nvSpPr>
          <p:cNvPr id="38" name="Text 36"/>
          <p:cNvSpPr/>
          <p:nvPr/>
        </p:nvSpPr>
        <p:spPr>
          <a:xfrm>
            <a:off x="7406614" y="3680222"/>
            <a:ext cx="1706893" cy="66913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City blocks: check only your own and next-door</a:t>
            </a:r>
            <a:endParaRPr lang="en-US" sz="1300" dirty="0"/>
          </a:p>
        </p:txBody>
      </p:sp>
      <p:sp>
        <p:nvSpPr>
          <p:cNvPr id="39" name="Text 37"/>
          <p:cNvSpPr/>
          <p:nvPr/>
        </p:nvSpPr>
        <p:spPr>
          <a:xfrm>
            <a:off x="7406614" y="4374753"/>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Finds nearby objects fast</a:t>
            </a:r>
            <a:endParaRPr lang="en-US" sz="1200" dirty="0"/>
          </a:p>
        </p:txBody>
      </p:sp>
      <p:sp>
        <p:nvSpPr>
          <p:cNvPr id="40" name="Shape 38"/>
          <p:cNvSpPr/>
          <p:nvPr/>
        </p:nvSpPr>
        <p:spPr>
          <a:xfrm>
            <a:off x="9367507" y="3252260"/>
            <a:ext cx="2011693" cy="1658408"/>
          </a:xfrm>
          <a:prstGeom prst="roundRect">
            <a:avLst>
              <a:gd name="adj" fmla="val 7658"/>
            </a:avLst>
          </a:prstGeom>
          <a:solidFill>
            <a:srgbClr val="FFFFFF"/>
          </a:solidFill>
          <a:ln/>
        </p:spPr>
      </p:sp>
      <p:sp>
        <p:nvSpPr>
          <p:cNvPr id="41" name="Text 39"/>
          <p:cNvSpPr/>
          <p:nvPr/>
        </p:nvSpPr>
        <p:spPr>
          <a:xfrm>
            <a:off x="9545307" y="3391960"/>
            <a:ext cx="1706893" cy="262864"/>
          </a:xfrm>
          <a:prstGeom prst="rect">
            <a:avLst/>
          </a:prstGeom>
          <a:noFill/>
          <a:ln/>
        </p:spPr>
        <p:txBody>
          <a:bodyPr wrap="square" lIns="0" tIns="0" rIns="0" bIns="0" rtlCol="0" anchor="t">
            <a:normAutofit/>
          </a:bodyPr>
          <a:lstStyle/>
          <a:p>
            <a:pPr algn="l" indent="0" marL="0">
              <a:lnSpc>
                <a:spcPts val="1870"/>
              </a:lnSpc>
              <a:buNone/>
            </a:pPr>
            <a:r>
              <a:rPr lang="en-US" sz="1700" b="1" dirty="0">
                <a:solidFill>
                  <a:srgbClr val="14213D"/>
                </a:solidFill>
                <a:latin typeface="Space Grotesk" pitchFamily="34" charset="0"/>
                <a:ea typeface="Space Grotesk" pitchFamily="34" charset="-122"/>
                <a:cs typeface="Space Grotesk" pitchFamily="34" charset="-120"/>
              </a:rPr>
              <a:t>Union-find</a:t>
            </a:r>
            <a:endParaRPr lang="en-US" sz="1700" dirty="0"/>
          </a:p>
        </p:txBody>
      </p:sp>
      <p:sp>
        <p:nvSpPr>
          <p:cNvPr id="42" name="Text 40"/>
          <p:cNvSpPr/>
          <p:nvPr/>
        </p:nvSpPr>
        <p:spPr>
          <a:xfrm>
            <a:off x="9545307" y="3680222"/>
            <a:ext cx="1706893" cy="669131"/>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B45309"/>
                </a:solidFill>
                <a:latin typeface="IBM Plex Sans" pitchFamily="34" charset="0"/>
                <a:ea typeface="IBM Plex Sans" pitchFamily="34" charset="-122"/>
                <a:cs typeface="IBM Plex Sans" pitchFamily="34" charset="-120"/>
              </a:rPr>
              <a:t>A club register: who belongs to which group</a:t>
            </a:r>
            <a:endParaRPr lang="en-US" sz="1300" dirty="0"/>
          </a:p>
        </p:txBody>
      </p:sp>
      <p:sp>
        <p:nvSpPr>
          <p:cNvPr id="43" name="Text 41"/>
          <p:cNvSpPr/>
          <p:nvPr/>
        </p:nvSpPr>
        <p:spPr>
          <a:xfrm>
            <a:off x="9545307" y="4374753"/>
            <a:ext cx="170689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C3A52"/>
                </a:solidFill>
                <a:latin typeface="IBM Plex Sans" pitchFamily="34" charset="0"/>
                <a:ea typeface="IBM Plex Sans" pitchFamily="34" charset="-122"/>
                <a:cs typeface="IBM Plex Sans" pitchFamily="34" charset="-120"/>
              </a:rPr>
              <a:t>Double-checks the clumps</a:t>
            </a:r>
            <a:endParaRPr lang="en-US" sz="1200" dirty="0"/>
          </a:p>
        </p:txBody>
      </p:sp>
      <p:sp>
        <p:nvSpPr>
          <p:cNvPr id="44" name="Text 42"/>
          <p:cNvSpPr/>
          <p:nvPr/>
        </p:nvSpPr>
        <p:spPr>
          <a:xfrm>
            <a:off x="812800" y="5113868"/>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C3A52"/>
                </a:solidFill>
                <a:latin typeface="IBM Plex Sans" pitchFamily="34" charset="0"/>
                <a:ea typeface="IBM Plex Sans" pitchFamily="34" charset="-122"/>
                <a:cs typeface="IBM Plex Sans" pitchFamily="34" charset="-120"/>
              </a:rPr>
              <a:t>For choosing which objects to move: a </a:t>
            </a:r>
            <a:r>
              <a:rPr lang="en-US" sz="1400" b="1" dirty="0">
                <a:solidFill>
                  <a:srgbClr val="2C3A52"/>
                </a:solidFill>
                <a:latin typeface="IBM Plex Sans" pitchFamily="34" charset="0"/>
                <a:ea typeface="IBM Plex Sans" pitchFamily="34" charset="-122"/>
                <a:cs typeface="IBM Plex Sans" pitchFamily="34" charset="-120"/>
              </a:rPr>
              <a:t>quick</a:t>
            </a:r>
            <a:r>
              <a:rPr lang="en-US" sz="1400" dirty="0">
                <a:solidFill>
                  <a:srgbClr val="2C3A52"/>
                </a:solidFill>
                <a:latin typeface="IBM Plex Sans" pitchFamily="34" charset="0"/>
                <a:ea typeface="IBM Plex Sans" pitchFamily="34" charset="-122"/>
                <a:cs typeface="IBM Plex Sans" pitchFamily="34" charset="-120"/>
              </a:rPr>
              <a:t> method (greedy) and a </a:t>
            </a:r>
            <a:r>
              <a:rPr lang="en-US" sz="1400" b="1" dirty="0">
                <a:solidFill>
                  <a:srgbClr val="2C3A52"/>
                </a:solidFill>
                <a:latin typeface="IBM Plex Sans" pitchFamily="34" charset="0"/>
                <a:ea typeface="IBM Plex Sans" pitchFamily="34" charset="-122"/>
                <a:cs typeface="IBM Plex Sans" pitchFamily="34" charset="-120"/>
              </a:rPr>
              <a:t>best-possible</a:t>
            </a:r>
            <a:r>
              <a:rPr lang="en-US" sz="1400" dirty="0">
                <a:solidFill>
                  <a:srgbClr val="2C3A52"/>
                </a:solidFill>
                <a:latin typeface="IBM Plex Sans" pitchFamily="34" charset="0"/>
                <a:ea typeface="IBM Plex Sans" pitchFamily="34" charset="-122"/>
                <a:cs typeface="IBM Plex Sans" pitchFamily="34" charset="-120"/>
              </a:rPr>
              <a:t> search (branch and bound).</a:t>
            </a:r>
            <a:endParaRPr lang="en-US" sz="1400" dirty="0"/>
          </a:p>
        </p:txBody>
      </p:sp>
      <p:sp>
        <p:nvSpPr>
          <p:cNvPr id="45" name="Text 4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Written from scratch in C. Nothing comes from a library.</a:t>
            </a:r>
            <a:endParaRPr lang="en-US" sz="1200" dirty="0"/>
          </a:p>
        </p:txBody>
      </p:sp>
      <p:sp>
        <p:nvSpPr>
          <p:cNvPr id="46" name="Text 4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6 / 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5080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45309"/>
                </a:solidFill>
                <a:latin typeface="IBM Plex Sans" pitchFamily="34" charset="0"/>
                <a:ea typeface="IBM Plex Sans" pitchFamily="34" charset="-122"/>
                <a:cs typeface="IBM Plex Sans" pitchFamily="34" charset="-120"/>
              </a:rPr>
              <a:t>WHAT WE LEARNED</a:t>
            </a:r>
            <a:endParaRPr lang="en-US" sz="1400" dirty="0"/>
          </a:p>
        </p:txBody>
      </p:sp>
      <p:sp>
        <p:nvSpPr>
          <p:cNvPr id="3" name="Text 1"/>
          <p:cNvSpPr/>
          <p:nvPr>
            <p:ph type="title"/>
          </p:nvPr>
        </p:nvSpPr>
        <p:spPr>
          <a:xfrm>
            <a:off x="812800" y="833109"/>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Close calls come in clumps</a:t>
            </a:r>
            <a:endParaRPr lang="en-US" sz="3200" dirty="0"/>
          </a:p>
        </p:txBody>
      </p:sp>
      <p:sp>
        <p:nvSpPr>
          <p:cNvPr id="4" name="Shape 2"/>
          <p:cNvSpPr/>
          <p:nvPr/>
        </p:nvSpPr>
        <p:spPr>
          <a:xfrm>
            <a:off x="812800" y="1508720"/>
            <a:ext cx="6273800" cy="3665141"/>
          </a:xfrm>
          <a:prstGeom prst="roundRect">
            <a:avLst>
              <a:gd name="adj" fmla="val 3465"/>
            </a:avLst>
          </a:prstGeom>
          <a:solidFill>
            <a:srgbClr val="FFFFFF"/>
          </a:solidFill>
          <a:ln/>
        </p:spPr>
      </p:sp>
      <p:pic>
        <p:nvPicPr>
          <p:cNvPr id="5" name="Image 0" descr="Left: how many clumps of each size at 10 km, with one giant clump of 7,197 objects. Right: the biggest clump, the number of clumps and the objects involved, as the distance we flag grows from 1 to 10 km">    </p:cNvPr>
          <p:cNvPicPr>
            <a:picLocks noChangeAspect="1"/>
          </p:cNvPicPr>
          <p:nvPr/>
        </p:nvPicPr>
        <p:blipFill>
          <a:blip r:embed="rId1"/>
          <a:srcRect l="0" r="0" t="-377" b="-377"/>
          <a:stretch/>
        </p:blipFill>
        <p:spPr>
          <a:xfrm>
            <a:off x="965200" y="1661120"/>
            <a:ext cx="5969000" cy="2838450"/>
          </a:xfrm>
          <a:prstGeom prst="rect">
            <a:avLst/>
          </a:prstGeom>
        </p:spPr>
      </p:pic>
      <p:sp>
        <p:nvSpPr>
          <p:cNvPr id="6" name="Text 3"/>
          <p:cNvSpPr/>
          <p:nvPr/>
        </p:nvSpPr>
        <p:spPr>
          <a:xfrm>
            <a:off x="965200" y="4575770"/>
            <a:ext cx="614807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577"/>
                </a:solidFill>
                <a:latin typeface="IBM Plex Sans" pitchFamily="34" charset="0"/>
                <a:ea typeface="IBM Plex Sans" pitchFamily="34" charset="-122"/>
                <a:cs typeface="IBM Plex Sans" pitchFamily="34" charset="-120"/>
              </a:rPr>
              <a:t>Right: the orange line, the biggest clump, shoots up as the flagged distance grows.</a:t>
            </a:r>
            <a:endParaRPr lang="en-US" sz="1300" dirty="0"/>
          </a:p>
        </p:txBody>
      </p:sp>
      <p:sp>
        <p:nvSpPr>
          <p:cNvPr id="7" name="Shape 4"/>
          <p:cNvSpPr/>
          <p:nvPr/>
        </p:nvSpPr>
        <p:spPr>
          <a:xfrm>
            <a:off x="7366000" y="1677724"/>
            <a:ext cx="4013200" cy="1269868"/>
          </a:xfrm>
          <a:prstGeom prst="roundRect">
            <a:avLst>
              <a:gd name="adj" fmla="val 10001"/>
            </a:avLst>
          </a:prstGeom>
          <a:solidFill>
            <a:srgbClr val="FFFFFF"/>
          </a:solidFill>
          <a:ln/>
        </p:spPr>
      </p:sp>
      <p:sp>
        <p:nvSpPr>
          <p:cNvPr id="8" name="Text 5"/>
          <p:cNvSpPr/>
          <p:nvPr/>
        </p:nvSpPr>
        <p:spPr>
          <a:xfrm>
            <a:off x="7569200" y="1830124"/>
            <a:ext cx="371500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24 objects</a:t>
            </a:r>
            <a:endParaRPr lang="en-US" sz="3200" dirty="0"/>
          </a:p>
        </p:txBody>
      </p:sp>
      <p:sp>
        <p:nvSpPr>
          <p:cNvPr id="9" name="Text 6"/>
          <p:cNvSpPr/>
          <p:nvPr/>
        </p:nvSpPr>
        <p:spPr>
          <a:xfrm>
            <a:off x="7569200" y="2315239"/>
            <a:ext cx="3715004"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in the biggest clump, flagging pairs in 5 km distance</a:t>
            </a:r>
            <a:endParaRPr lang="en-US" sz="1400" dirty="0"/>
          </a:p>
        </p:txBody>
      </p:sp>
      <p:sp>
        <p:nvSpPr>
          <p:cNvPr id="10" name="Shape 7"/>
          <p:cNvSpPr/>
          <p:nvPr/>
        </p:nvSpPr>
        <p:spPr>
          <a:xfrm>
            <a:off x="7366000" y="3074591"/>
            <a:ext cx="4013200" cy="1269868"/>
          </a:xfrm>
          <a:prstGeom prst="roundRect">
            <a:avLst>
              <a:gd name="adj" fmla="val 10001"/>
            </a:avLst>
          </a:prstGeom>
          <a:solidFill>
            <a:srgbClr val="FFFFFF"/>
          </a:solidFill>
          <a:ln/>
        </p:spPr>
      </p:sp>
      <p:sp>
        <p:nvSpPr>
          <p:cNvPr id="11" name="Shape 8"/>
          <p:cNvSpPr/>
          <p:nvPr/>
        </p:nvSpPr>
        <p:spPr>
          <a:xfrm>
            <a:off x="7366000" y="3074591"/>
            <a:ext cx="4013200" cy="1269868"/>
          </a:xfrm>
          <a:custGeom>
            <a:avLst/>
            <a:gdLst/>
            <a:ahLst/>
            <a:cxnLst/>
            <a:rect l="l" t="t" r="r" b="b"/>
            <a:pathLst>
              <a:path w="4013200" h="1269868">
                <a:moveTo>
                  <a:pt x="127000" y="1269868"/>
                </a:moveTo>
                <a:lnTo>
                  <a:pt x="127000" y="1269868"/>
                </a:lnTo>
                <a:arcTo hR="127000" wR="127000" stAng="5400000" swAng="5400000"/>
                <a:lnTo>
                  <a:pt x="0" y="127000"/>
                </a:lnTo>
                <a:arcTo hR="127000" wR="127000" stAng="10800000" swAng="5400000"/>
                <a:lnTo>
                  <a:pt x="127000" y="0"/>
                </a:lnTo>
                <a:arcTo hR="127000" wR="63500" stAng="16200000" swAng="-5400000"/>
                <a:lnTo>
                  <a:pt x="63500" y="1142868"/>
                </a:lnTo>
                <a:arcTo hR="127000" wR="63500" stAng="10800000" swAng="-5400000"/>
                <a:close/>
              </a:path>
            </a:pathLst>
          </a:custGeom>
          <a:solidFill>
            <a:srgbClr val="B45309"/>
          </a:solidFill>
          <a:ln/>
        </p:spPr>
      </p:sp>
      <p:sp>
        <p:nvSpPr>
          <p:cNvPr id="12" name="Text 9"/>
          <p:cNvSpPr/>
          <p:nvPr/>
        </p:nvSpPr>
        <p:spPr>
          <a:xfrm>
            <a:off x="7632700" y="3226991"/>
            <a:ext cx="3649599"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Space Grotesk" pitchFamily="34" charset="0"/>
                <a:ea typeface="Space Grotesk" pitchFamily="34" charset="-122"/>
                <a:cs typeface="Space Grotesk" pitchFamily="34" charset="-120"/>
              </a:rPr>
              <a:t>7,197 objects</a:t>
            </a:r>
            <a:endParaRPr lang="en-US" sz="3200" dirty="0"/>
          </a:p>
        </p:txBody>
      </p:sp>
      <p:sp>
        <p:nvSpPr>
          <p:cNvPr id="13" name="Text 10"/>
          <p:cNvSpPr/>
          <p:nvPr/>
        </p:nvSpPr>
        <p:spPr>
          <a:xfrm>
            <a:off x="7632700" y="3712105"/>
            <a:ext cx="3649599"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tangled in one giant clump, flagging pairs in 10 km distance</a:t>
            </a:r>
            <a:endParaRPr lang="en-US" sz="1400" dirty="0"/>
          </a:p>
        </p:txBody>
      </p:sp>
      <p:sp>
        <p:nvSpPr>
          <p:cNvPr id="14" name="Text 11"/>
          <p:cNvSpPr/>
          <p:nvPr/>
        </p:nvSpPr>
        <p:spPr>
          <a:xfrm>
            <a:off x="7366000" y="4471460"/>
            <a:ext cx="4133596"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9"/>
                </a:solidFill>
                <a:latin typeface="IBM Plex Sans" pitchFamily="34" charset="0"/>
                <a:ea typeface="IBM Plex Sans" pitchFamily="34" charset="-122"/>
                <a:cs typeface="IBM Plex Sans" pitchFamily="34" charset="-120"/>
              </a:rPr>
              <a:t>At 5 km the clumps stay small enough to plan around.</a:t>
            </a:r>
            <a:endParaRPr lang="en-US" sz="15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Source: results/c7_threshold.csv · real catalogue, one hour of orbit</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7 /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508000"/>
            <a:ext cx="10883392" cy="269015"/>
          </a:xfrm>
          <a:prstGeom prst="rect">
            <a:avLst/>
          </a:prstGeom>
          <a:noFill/>
          <a:ln/>
        </p:spPr>
        <p:txBody>
          <a:bodyPr wrap="square" lIns="0" tIns="0" rIns="0" bIns="0" rtlCol="0" anchor="t">
            <a:normAutofit/>
          </a:bodyPr>
          <a:lstStyle/>
          <a:p>
            <a:pPr algn="l" indent="0" marL="0">
              <a:lnSpc>
                <a:spcPts val="1923"/>
              </a:lnSpc>
              <a:buNone/>
            </a:pPr>
            <a:r>
              <a:rPr lang="en-US" sz="1374" b="1" spc="200" kern="0" dirty="0">
                <a:solidFill>
                  <a:srgbClr val="B45309"/>
                </a:solidFill>
                <a:latin typeface="IBM Plex Sans" pitchFamily="34" charset="0"/>
                <a:ea typeface="IBM Plex Sans" pitchFamily="34" charset="-122"/>
                <a:cs typeface="IBM Plex Sans" pitchFamily="34" charset="-120"/>
              </a:rPr>
              <a:t>WHAT WE LEARNED</a:t>
            </a:r>
            <a:endParaRPr lang="en-US" sz="1374" dirty="0"/>
          </a:p>
        </p:txBody>
      </p:sp>
      <p:sp>
        <p:nvSpPr>
          <p:cNvPr id="3" name="Text 1"/>
          <p:cNvSpPr/>
          <p:nvPr>
            <p:ph type="title"/>
          </p:nvPr>
        </p:nvSpPr>
        <p:spPr>
          <a:xfrm>
            <a:off x="812800" y="827816"/>
            <a:ext cx="10883392" cy="462955"/>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4213D"/>
                </a:solidFill>
                <a:latin typeface="Space Grotesk" pitchFamily="34" charset="0"/>
                <a:ea typeface="Space Grotesk" pitchFamily="34" charset="-122"/>
                <a:cs typeface="Space Grotesk" pitchFamily="34" charset="-120"/>
              </a:rPr>
              <a:t>Choosing </a:t>
            </a:r>
            <a:r>
              <a:rPr lang="en-US" sz="3150" b="1" i="1" dirty="0">
                <a:solidFill>
                  <a:srgbClr val="14213D"/>
                </a:solidFill>
                <a:latin typeface="Space Grotesk" pitchFamily="34" charset="0"/>
                <a:ea typeface="Space Grotesk" pitchFamily="34" charset="-122"/>
                <a:cs typeface="Space Grotesk" pitchFamily="34" charset="-120"/>
              </a:rPr>
              <a:t>which</a:t>
            </a:r>
            <a:r>
              <a:rPr lang="en-US" sz="3150" b="1" i="0" dirty="0">
                <a:solidFill>
                  <a:srgbClr val="14213D"/>
                </a:solidFill>
                <a:latin typeface="Space Grotesk" pitchFamily="34" charset="0"/>
                <a:ea typeface="Space Grotesk" pitchFamily="34" charset="-122"/>
                <a:cs typeface="Space Grotesk" pitchFamily="34" charset="-120"/>
              </a:rPr>
              <a:t> objects to move</a:t>
            </a:r>
            <a:endParaRPr lang="en-US" sz="3150" dirty="0"/>
          </a:p>
        </p:txBody>
      </p:sp>
      <p:sp>
        <p:nvSpPr>
          <p:cNvPr id="4" name="Shape 2"/>
          <p:cNvSpPr/>
          <p:nvPr/>
        </p:nvSpPr>
        <p:spPr>
          <a:xfrm>
            <a:off x="812800" y="1749955"/>
            <a:ext cx="5765800" cy="3835995"/>
          </a:xfrm>
          <a:prstGeom prst="roundRect">
            <a:avLst>
              <a:gd name="adj" fmla="val 3311"/>
            </a:avLst>
          </a:prstGeom>
          <a:solidFill>
            <a:srgbClr val="FFFFFF"/>
          </a:solidFill>
          <a:ln/>
        </p:spPr>
      </p:sp>
      <p:pic>
        <p:nvPicPr>
          <p:cNvPr id="5" name="Image 0" descr="Bar chart of how many objects must move to clear every close call, for one, three and six hour windows: the best possible plan against our quick method">    </p:cNvPr>
          <p:cNvPicPr>
            <a:picLocks noChangeAspect="1"/>
          </p:cNvPicPr>
          <p:nvPr/>
        </p:nvPicPr>
        <p:blipFill>
          <a:blip r:embed="rId1"/>
          <a:srcRect l="-197" r="-197" t="0" b="0"/>
          <a:stretch/>
        </p:blipFill>
        <p:spPr>
          <a:xfrm>
            <a:off x="965200" y="1902355"/>
            <a:ext cx="5461000" cy="3232150"/>
          </a:xfrm>
          <a:prstGeom prst="rect">
            <a:avLst/>
          </a:prstGeom>
        </p:spPr>
      </p:pic>
      <p:sp>
        <p:nvSpPr>
          <p:cNvPr id="6" name="Text 3"/>
          <p:cNvSpPr/>
          <p:nvPr/>
        </p:nvSpPr>
        <p:spPr>
          <a:xfrm>
            <a:off x="965200" y="5210708"/>
            <a:ext cx="562483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A6577"/>
                </a:solidFill>
                <a:latin typeface="IBM Plex Sans" pitchFamily="34" charset="0"/>
                <a:ea typeface="IBM Plex Sans" pitchFamily="34" charset="-122"/>
                <a:cs typeface="IBM Plex Sans" pitchFamily="34" charset="-120"/>
              </a:rPr>
              <a:t>Gold bar: our quick method. Blue bar: the best possible plan.</a:t>
            </a:r>
            <a:endParaRPr lang="en-US" sz="1300" dirty="0"/>
          </a:p>
        </p:txBody>
      </p:sp>
      <p:sp>
        <p:nvSpPr>
          <p:cNvPr id="7" name="Shape 4"/>
          <p:cNvSpPr/>
          <p:nvPr/>
        </p:nvSpPr>
        <p:spPr>
          <a:xfrm>
            <a:off x="6858000" y="1452101"/>
            <a:ext cx="4521200" cy="1269868"/>
          </a:xfrm>
          <a:prstGeom prst="roundRect">
            <a:avLst>
              <a:gd name="adj" fmla="val 10001"/>
            </a:avLst>
          </a:prstGeom>
          <a:solidFill>
            <a:srgbClr val="FFFFFF"/>
          </a:solidFill>
          <a:ln/>
        </p:spPr>
      </p:sp>
      <p:sp>
        <p:nvSpPr>
          <p:cNvPr id="8" name="Shape 5"/>
          <p:cNvSpPr/>
          <p:nvPr/>
        </p:nvSpPr>
        <p:spPr>
          <a:xfrm>
            <a:off x="6858000" y="1452101"/>
            <a:ext cx="4521200" cy="1269868"/>
          </a:xfrm>
          <a:custGeom>
            <a:avLst/>
            <a:gdLst/>
            <a:ahLst/>
            <a:cxnLst/>
            <a:rect l="l" t="t" r="r" b="b"/>
            <a:pathLst>
              <a:path w="4521200" h="1269868">
                <a:moveTo>
                  <a:pt x="127000" y="1269868"/>
                </a:moveTo>
                <a:lnTo>
                  <a:pt x="127000" y="1269868"/>
                </a:lnTo>
                <a:arcTo hR="127000" wR="127000" stAng="5400000" swAng="5400000"/>
                <a:lnTo>
                  <a:pt x="0" y="127000"/>
                </a:lnTo>
                <a:arcTo hR="127000" wR="127000" stAng="10800000" swAng="5400000"/>
                <a:lnTo>
                  <a:pt x="127000" y="0"/>
                </a:lnTo>
                <a:arcTo hR="127000" wR="63500" stAng="16200000" swAng="-5400000"/>
                <a:lnTo>
                  <a:pt x="63500" y="1142868"/>
                </a:lnTo>
                <a:arcTo hR="127000" wR="63500" stAng="10800000" swAng="-5400000"/>
                <a:close/>
              </a:path>
            </a:pathLst>
          </a:custGeom>
          <a:solidFill>
            <a:srgbClr val="B45309"/>
          </a:solidFill>
          <a:ln/>
        </p:spPr>
      </p:sp>
      <p:sp>
        <p:nvSpPr>
          <p:cNvPr id="9" name="Text 6"/>
          <p:cNvSpPr/>
          <p:nvPr/>
        </p:nvSpPr>
        <p:spPr>
          <a:xfrm>
            <a:off x="7124700" y="1604501"/>
            <a:ext cx="4172839"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Space Grotesk" pitchFamily="34" charset="0"/>
                <a:ea typeface="Space Grotesk" pitchFamily="34" charset="-122"/>
                <a:cs typeface="Space Grotesk" pitchFamily="34" charset="-120"/>
              </a:rPr>
              <a:t>+1.4%</a:t>
            </a:r>
            <a:endParaRPr lang="en-US" sz="3200" dirty="0"/>
          </a:p>
        </p:txBody>
      </p:sp>
      <p:sp>
        <p:nvSpPr>
          <p:cNvPr id="10" name="Text 7"/>
          <p:cNvSpPr/>
          <p:nvPr/>
        </p:nvSpPr>
        <p:spPr>
          <a:xfrm>
            <a:off x="7124700" y="2089615"/>
            <a:ext cx="4172839"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more objects to move than the best possible plan: 3,737 against 3,687</a:t>
            </a:r>
            <a:endParaRPr lang="en-US" sz="1400" dirty="0"/>
          </a:p>
        </p:txBody>
      </p:sp>
      <p:sp>
        <p:nvSpPr>
          <p:cNvPr id="11" name="Shape 8"/>
          <p:cNvSpPr/>
          <p:nvPr/>
        </p:nvSpPr>
        <p:spPr>
          <a:xfrm>
            <a:off x="6858000" y="2848967"/>
            <a:ext cx="4521200" cy="2161249"/>
          </a:xfrm>
          <a:prstGeom prst="roundRect">
            <a:avLst>
              <a:gd name="adj" fmla="val 5876"/>
            </a:avLst>
          </a:prstGeom>
          <a:solidFill>
            <a:srgbClr val="FFFFFF"/>
          </a:solidFill>
          <a:ln/>
        </p:spPr>
      </p:sp>
      <p:sp>
        <p:nvSpPr>
          <p:cNvPr id="12" name="Text 9"/>
          <p:cNvSpPr/>
          <p:nvPr/>
        </p:nvSpPr>
        <p:spPr>
          <a:xfrm>
            <a:off x="7061200" y="3001367"/>
            <a:ext cx="4238244"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Confirmed</a:t>
            </a:r>
            <a:endParaRPr lang="en-US" sz="3200" dirty="0"/>
          </a:p>
        </p:txBody>
      </p:sp>
      <p:sp>
        <p:nvSpPr>
          <p:cNvPr id="13" name="Text 10"/>
          <p:cNvSpPr/>
          <p:nvPr/>
        </p:nvSpPr>
        <p:spPr>
          <a:xfrm>
            <a:off x="7061200" y="3486482"/>
            <a:ext cx="4238244"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C3A52"/>
                </a:solidFill>
                <a:latin typeface="IBM Plex Sans" pitchFamily="34" charset="0"/>
                <a:ea typeface="IBM Plex Sans" pitchFamily="34" charset="-122"/>
                <a:cs typeface="IBM Plex Sans" pitchFamily="34" charset="-120"/>
              </a:rPr>
              <a:t>by an independent integer-programming solver, the best-possible numbers are right.</a:t>
            </a:r>
            <a:endParaRPr lang="en-US" sz="1400" dirty="0"/>
          </a:p>
        </p:txBody>
      </p:sp>
      <p:sp>
        <p:nvSpPr>
          <p:cNvPr id="14" name="Text 11"/>
          <p:cNvSpPr/>
          <p:nvPr/>
        </p:nvSpPr>
        <p:spPr>
          <a:xfrm>
            <a:off x="7061200" y="4004537"/>
            <a:ext cx="423824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Our own best-possible search could have a bug, so we re-solved the same problem with separate, off-the-shelf software and got the same answers (checked at 1 and 6 hours).</a:t>
            </a:r>
            <a:endParaRPr lang="en-US" sz="1200" dirty="0"/>
          </a:p>
        </p:txBody>
      </p:sp>
      <p:sp>
        <p:nvSpPr>
          <p:cNvPr id="15" name="Text 12"/>
          <p:cNvSpPr/>
          <p:nvPr/>
        </p:nvSpPr>
        <p:spPr>
          <a:xfrm>
            <a:off x="6858000" y="5137218"/>
            <a:ext cx="465683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perfect plan is only practical for small groups, but the quick method stays close to it regardless of group size.</a:t>
            </a:r>
            <a:endParaRPr lang="en-US" sz="1400" dirty="0"/>
          </a:p>
        </p:txBody>
      </p:sp>
      <p:sp>
        <p:nvSpPr>
          <p:cNvPr id="16"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Source: results/c6_summary.csv · real catalogue</a:t>
            </a:r>
            <a:endParaRPr lang="en-US" sz="1200" dirty="0"/>
          </a:p>
        </p:txBody>
      </p:sp>
      <p:sp>
        <p:nvSpPr>
          <p:cNvPr id="17"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8 / 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3"/>
                </a:solidFill>
                <a:latin typeface="IBM Plex Sans" pitchFamily="34" charset="0"/>
                <a:ea typeface="IBM Plex Sans" pitchFamily="34" charset="-122"/>
                <a:cs typeface="IBM Plex Sans" pitchFamily="34" charset="-120"/>
              </a:rPr>
              <a:t>Source: docs/verification.md, results/c8_coverage.csv, c8_mutation.csv, sgp4_validation.csv</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E9BB3"/>
                </a:solidFill>
                <a:latin typeface="IBM Plex Sans" pitchFamily="34" charset="0"/>
                <a:ea typeface="IBM Plex Sans" pitchFamily="34" charset="-122"/>
                <a:cs typeface="IBM Plex Sans" pitchFamily="34" charset="-120"/>
              </a:rPr>
              <a:t>9 / 11</a:t>
            </a:r>
            <a:endParaRPr lang="en-US" sz="1200" dirty="0"/>
          </a:p>
        </p:txBody>
      </p:sp>
      <p:sp>
        <p:nvSpPr>
          <p:cNvPr id="4" name="Text 2"/>
          <p:cNvSpPr/>
          <p:nvPr>
            <p:ph type="title"/>
          </p:nvPr>
        </p:nvSpPr>
        <p:spPr>
          <a:xfrm>
            <a:off x="812800" y="6096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1EA"/>
                </a:solidFill>
                <a:latin typeface="Space Grotesk" pitchFamily="34" charset="0"/>
                <a:ea typeface="Space Grotesk" pitchFamily="34" charset="-122"/>
                <a:cs typeface="Space Grotesk" pitchFamily="34" charset="-120"/>
              </a:rPr>
              <a:t>Observed statistics</a:t>
            </a:r>
            <a:endParaRPr lang="en-US" sz="3200" dirty="0"/>
          </a:p>
        </p:txBody>
      </p:sp>
      <p:sp>
        <p:nvSpPr>
          <p:cNvPr id="5" name="Shape 3"/>
          <p:cNvSpPr/>
          <p:nvPr/>
        </p:nvSpPr>
        <p:spPr>
          <a:xfrm>
            <a:off x="812800" y="1308100"/>
            <a:ext cx="5194300" cy="1435034"/>
          </a:xfrm>
          <a:prstGeom prst="roundRect">
            <a:avLst>
              <a:gd name="adj" fmla="val 8850"/>
            </a:avLst>
          </a:prstGeom>
          <a:solidFill>
            <a:srgbClr val="16233A"/>
          </a:solidFill>
          <a:ln/>
        </p:spPr>
      </p:sp>
      <p:sp>
        <p:nvSpPr>
          <p:cNvPr id="6" name="Text 4"/>
          <p:cNvSpPr/>
          <p:nvPr/>
        </p:nvSpPr>
        <p:spPr>
          <a:xfrm>
            <a:off x="1041400" y="1485900"/>
            <a:ext cx="4879213"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FAF9F5"/>
                </a:solidFill>
                <a:latin typeface="IBM Plex Sans" pitchFamily="34" charset="0"/>
                <a:ea typeface="IBM Plex Sans" pitchFamily="34" charset="-122"/>
                <a:cs typeface="IBM Plex Sans" pitchFamily="34" charset="-120"/>
              </a:rPr>
              <a:t>mutation check</a:t>
            </a:r>
            <a:endParaRPr lang="en-US" sz="1400" dirty="0"/>
          </a:p>
        </p:txBody>
      </p:sp>
      <p:sp>
        <p:nvSpPr>
          <p:cNvPr id="7" name="Text 5"/>
          <p:cNvSpPr/>
          <p:nvPr/>
        </p:nvSpPr>
        <p:spPr>
          <a:xfrm>
            <a:off x="1041400" y="1785609"/>
            <a:ext cx="4879213"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2A541"/>
                </a:solidFill>
                <a:latin typeface="Space Grotesk" pitchFamily="34" charset="0"/>
                <a:ea typeface="Space Grotesk" pitchFamily="34" charset="-122"/>
                <a:cs typeface="Space Grotesk" pitchFamily="34" charset="-120"/>
              </a:rPr>
              <a:t>36 of 39</a:t>
            </a:r>
            <a:endParaRPr lang="en-US" sz="3600" dirty="0"/>
          </a:p>
        </p:txBody>
      </p:sp>
      <p:sp>
        <p:nvSpPr>
          <p:cNvPr id="8" name="Text 6"/>
          <p:cNvSpPr/>
          <p:nvPr/>
        </p:nvSpPr>
        <p:spPr>
          <a:xfrm>
            <a:off x="1041400" y="2316429"/>
            <a:ext cx="487921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E"/>
                </a:solidFill>
                <a:latin typeface="IBM Plex Sans" pitchFamily="34" charset="0"/>
                <a:ea typeface="IBM Plex Sans" pitchFamily="34" charset="-122"/>
                <a:cs typeface="IBM Plex Sans" pitchFamily="34" charset="-120"/>
              </a:rPr>
              <a:t>bugs we planted on purpose were caught by our tests</a:t>
            </a:r>
            <a:endParaRPr lang="en-US" sz="1400" dirty="0"/>
          </a:p>
        </p:txBody>
      </p:sp>
      <p:sp>
        <p:nvSpPr>
          <p:cNvPr id="9" name="Shape 7"/>
          <p:cNvSpPr/>
          <p:nvPr/>
        </p:nvSpPr>
        <p:spPr>
          <a:xfrm>
            <a:off x="6184900" y="1308100"/>
            <a:ext cx="5194300" cy="1435034"/>
          </a:xfrm>
          <a:prstGeom prst="roundRect">
            <a:avLst>
              <a:gd name="adj" fmla="val 8850"/>
            </a:avLst>
          </a:prstGeom>
          <a:solidFill>
            <a:srgbClr val="16233A"/>
          </a:solidFill>
          <a:ln/>
        </p:spPr>
      </p:sp>
      <p:sp>
        <p:nvSpPr>
          <p:cNvPr id="10" name="Text 8"/>
          <p:cNvSpPr/>
          <p:nvPr/>
        </p:nvSpPr>
        <p:spPr>
          <a:xfrm>
            <a:off x="6413500" y="1485900"/>
            <a:ext cx="4879213"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FAF9F5"/>
                </a:solidFill>
                <a:latin typeface="IBM Plex Sans" pitchFamily="34" charset="0"/>
                <a:ea typeface="IBM Plex Sans" pitchFamily="34" charset="-122"/>
                <a:cs typeface="IBM Plex Sans" pitchFamily="34" charset="-120"/>
              </a:rPr>
              <a:t>line coverage check</a:t>
            </a:r>
            <a:endParaRPr lang="en-US" sz="1400" dirty="0"/>
          </a:p>
        </p:txBody>
      </p:sp>
      <p:sp>
        <p:nvSpPr>
          <p:cNvPr id="11" name="Text 9"/>
          <p:cNvSpPr/>
          <p:nvPr/>
        </p:nvSpPr>
        <p:spPr>
          <a:xfrm>
            <a:off x="6413500" y="1785609"/>
            <a:ext cx="4879213"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2A541"/>
                </a:solidFill>
                <a:latin typeface="Space Grotesk" pitchFamily="34" charset="0"/>
                <a:ea typeface="Space Grotesk" pitchFamily="34" charset="-122"/>
                <a:cs typeface="Space Grotesk" pitchFamily="34" charset="-120"/>
              </a:rPr>
              <a:t>100%</a:t>
            </a:r>
            <a:endParaRPr lang="en-US" sz="3600" dirty="0"/>
          </a:p>
        </p:txBody>
      </p:sp>
      <p:sp>
        <p:nvSpPr>
          <p:cNvPr id="12" name="Text 10"/>
          <p:cNvSpPr/>
          <p:nvPr/>
        </p:nvSpPr>
        <p:spPr>
          <a:xfrm>
            <a:off x="6413500" y="2316429"/>
            <a:ext cx="4879213" cy="265377"/>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5CEDE"/>
                </a:solidFill>
                <a:latin typeface="IBM Plex Sans" pitchFamily="34" charset="0"/>
                <a:ea typeface="IBM Plex Sans" pitchFamily="34" charset="-122"/>
                <a:cs typeface="IBM Plex Sans" pitchFamily="34" charset="-120"/>
              </a:rPr>
              <a:t>of our code lines run during the tests</a:t>
            </a:r>
            <a:endParaRPr lang="en-US" sz="1400" dirty="0"/>
          </a:p>
        </p:txBody>
      </p:sp>
      <p:sp>
        <p:nvSpPr>
          <p:cNvPr id="13" name="Shape 11"/>
          <p:cNvSpPr/>
          <p:nvPr/>
        </p:nvSpPr>
        <p:spPr>
          <a:xfrm>
            <a:off x="812800" y="2920938"/>
            <a:ext cx="5194300" cy="1906058"/>
          </a:xfrm>
          <a:prstGeom prst="roundRect">
            <a:avLst>
              <a:gd name="adj" fmla="val 6663"/>
            </a:avLst>
          </a:prstGeom>
          <a:solidFill>
            <a:srgbClr val="16233A"/>
          </a:solidFill>
          <a:ln/>
        </p:spPr>
      </p:sp>
      <p:sp>
        <p:nvSpPr>
          <p:cNvPr id="14" name="Text 12"/>
          <p:cNvSpPr/>
          <p:nvPr/>
        </p:nvSpPr>
        <p:spPr>
          <a:xfrm>
            <a:off x="1041400" y="3098738"/>
            <a:ext cx="4879213"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FAF9F5"/>
                </a:solidFill>
                <a:latin typeface="IBM Plex Sans" pitchFamily="34" charset="0"/>
                <a:ea typeface="IBM Plex Sans" pitchFamily="34" charset="-122"/>
                <a:cs typeface="IBM Plex Sans" pitchFamily="34" charset="-120"/>
              </a:rPr>
              <a:t>fault injection check</a:t>
            </a:r>
            <a:endParaRPr lang="en-US" sz="1400" dirty="0"/>
          </a:p>
        </p:txBody>
      </p:sp>
      <p:sp>
        <p:nvSpPr>
          <p:cNvPr id="15" name="Text 13"/>
          <p:cNvSpPr/>
          <p:nvPr/>
        </p:nvSpPr>
        <p:spPr>
          <a:xfrm>
            <a:off x="1041400" y="3398441"/>
            <a:ext cx="4879213"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2A541"/>
                </a:solidFill>
                <a:latin typeface="Space Grotesk" pitchFamily="34" charset="0"/>
                <a:ea typeface="Space Grotesk" pitchFamily="34" charset="-122"/>
                <a:cs typeface="Space Grotesk" pitchFamily="34" charset="-120"/>
              </a:rPr>
              <a:t>6,550</a:t>
            </a:r>
            <a:endParaRPr lang="en-US" sz="3600" dirty="0"/>
          </a:p>
        </p:txBody>
      </p:sp>
      <p:sp>
        <p:nvSpPr>
          <p:cNvPr id="16" name="Text 14"/>
          <p:cNvSpPr/>
          <p:nvPr/>
        </p:nvSpPr>
        <p:spPr>
          <a:xfrm>
            <a:off x="1041400" y="3929261"/>
            <a:ext cx="4879213" cy="74533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5CEDE"/>
                </a:solidFill>
                <a:latin typeface="IBM Plex Sans" pitchFamily="34" charset="0"/>
                <a:ea typeface="IBM Plex Sans" pitchFamily="34" charset="-122"/>
                <a:cs typeface="IBM Plex Sans" pitchFamily="34" charset="-120"/>
              </a:rPr>
              <a:t>times we ran the computer out of memory on purpose: the program either reported an error or gave the right answer, never crashing.</a:t>
            </a:r>
            <a:endParaRPr lang="en-US" sz="1400" dirty="0"/>
          </a:p>
        </p:txBody>
      </p:sp>
      <p:sp>
        <p:nvSpPr>
          <p:cNvPr id="17" name="Shape 15"/>
          <p:cNvSpPr/>
          <p:nvPr/>
        </p:nvSpPr>
        <p:spPr>
          <a:xfrm>
            <a:off x="6184900" y="2920938"/>
            <a:ext cx="5194300" cy="1906058"/>
          </a:xfrm>
          <a:prstGeom prst="roundRect">
            <a:avLst>
              <a:gd name="adj" fmla="val 6663"/>
            </a:avLst>
          </a:prstGeom>
          <a:solidFill>
            <a:srgbClr val="16233A"/>
          </a:solidFill>
          <a:ln/>
        </p:spPr>
      </p:sp>
      <p:sp>
        <p:nvSpPr>
          <p:cNvPr id="18" name="Text 16"/>
          <p:cNvSpPr/>
          <p:nvPr/>
        </p:nvSpPr>
        <p:spPr>
          <a:xfrm>
            <a:off x="6413500" y="3098738"/>
            <a:ext cx="4879213"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FAF9F5"/>
                </a:solidFill>
                <a:latin typeface="IBM Plex Sans" pitchFamily="34" charset="0"/>
                <a:ea typeface="IBM Plex Sans" pitchFamily="34" charset="-122"/>
                <a:cs typeface="IBM Plex Sans" pitchFamily="34" charset="-120"/>
              </a:rPr>
              <a:t>SGP4 validation check</a:t>
            </a:r>
            <a:endParaRPr lang="en-US" sz="1400" dirty="0"/>
          </a:p>
        </p:txBody>
      </p:sp>
      <p:sp>
        <p:nvSpPr>
          <p:cNvPr id="19" name="Text 17"/>
          <p:cNvSpPr/>
          <p:nvPr/>
        </p:nvSpPr>
        <p:spPr>
          <a:xfrm>
            <a:off x="6413500" y="3398441"/>
            <a:ext cx="4879213"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2A541"/>
                </a:solidFill>
                <a:latin typeface="Space Grotesk" pitchFamily="34" charset="0"/>
                <a:ea typeface="Space Grotesk" pitchFamily="34" charset="-122"/>
                <a:cs typeface="Space Grotesk" pitchFamily="34" charset="-120"/>
              </a:rPr>
              <a:t>0.86 mm</a:t>
            </a:r>
            <a:endParaRPr lang="en-US" sz="3600" dirty="0"/>
          </a:p>
        </p:txBody>
      </p:sp>
      <p:sp>
        <p:nvSpPr>
          <p:cNvPr id="20" name="Text 18"/>
          <p:cNvSpPr/>
          <p:nvPr/>
        </p:nvSpPr>
        <p:spPr>
          <a:xfrm>
            <a:off x="6413500" y="3929261"/>
            <a:ext cx="4879213" cy="505354"/>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5CEDE"/>
                </a:solidFill>
                <a:latin typeface="IBM Plex Sans" pitchFamily="34" charset="0"/>
                <a:ea typeface="IBM Plex Sans" pitchFamily="34" charset="-122"/>
                <a:cs typeface="IBM Plex Sans" pitchFamily="34" charset="-120"/>
              </a:rPr>
              <a:t>largest difference between our orbit calculation and a trusted reference (Python SGP4 library)</a:t>
            </a:r>
            <a:endParaRPr lang="en-US" sz="1400" dirty="0"/>
          </a:p>
        </p:txBody>
      </p:sp>
      <p:sp>
        <p:nvSpPr>
          <p:cNvPr id="21" name="Text 19"/>
          <p:cNvSpPr/>
          <p:nvPr/>
        </p:nvSpPr>
        <p:spPr>
          <a:xfrm>
            <a:off x="812800" y="5106789"/>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EDE"/>
                </a:solidFill>
                <a:latin typeface="IBM Plex Sans" pitchFamily="34" charset="0"/>
                <a:ea typeface="IBM Plex Sans" pitchFamily="34" charset="-122"/>
                <a:cs typeface="IBM Plex Sans" pitchFamily="34" charset="-120"/>
              </a:rPr>
              <a:t>These tests pass on Linux and on Windows. </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508000"/>
            <a:ext cx="10883392" cy="246063"/>
          </a:xfrm>
          <a:prstGeom prst="rect">
            <a:avLst/>
          </a:prstGeom>
          <a:noFill/>
          <a:ln/>
        </p:spPr>
        <p:txBody>
          <a:bodyPr wrap="square" lIns="0" tIns="0" rIns="0" bIns="0" rtlCol="0" anchor="t">
            <a:normAutofit/>
          </a:bodyPr>
          <a:lstStyle/>
          <a:p>
            <a:pPr algn="l" indent="0" marL="0">
              <a:lnSpc>
                <a:spcPts val="1770"/>
              </a:lnSpc>
              <a:buNone/>
            </a:pPr>
            <a:r>
              <a:rPr lang="en-US" sz="1264" b="1" spc="200" kern="0" dirty="0">
                <a:solidFill>
                  <a:srgbClr val="F2A541"/>
                </a:solidFill>
                <a:latin typeface="IBM Plex Sans" pitchFamily="34" charset="0"/>
                <a:ea typeface="IBM Plex Sans" pitchFamily="34" charset="-122"/>
                <a:cs typeface="IBM Plex Sans" pitchFamily="34" charset="-120"/>
              </a:rPr>
              <a:t>LIVE DEMO · ABOUT 30 SECONDS</a:t>
            </a:r>
            <a:endParaRPr lang="en-US" sz="1264" dirty="0"/>
          </a:p>
        </p:txBody>
      </p:sp>
      <p:sp>
        <p:nvSpPr>
          <p:cNvPr id="3" name="Text 1"/>
          <p:cNvSpPr/>
          <p:nvPr>
            <p:ph type="title"/>
          </p:nvPr>
        </p:nvSpPr>
        <p:spPr>
          <a:xfrm>
            <a:off x="812800" y="804863"/>
            <a:ext cx="10883392" cy="421746"/>
          </a:xfrm>
          <a:prstGeom prst="rect">
            <a:avLst/>
          </a:prstGeom>
          <a:noFill/>
          <a:ln/>
        </p:spPr>
        <p:txBody>
          <a:bodyPr wrap="square" lIns="0" tIns="0" rIns="0" bIns="0" rtlCol="0" anchor="t">
            <a:normAutofit/>
          </a:bodyPr>
          <a:lstStyle/>
          <a:p>
            <a:pPr algn="l" indent="0" marL="0">
              <a:lnSpc>
                <a:spcPts val="3124"/>
              </a:lnSpc>
              <a:buNone/>
            </a:pPr>
            <a:r>
              <a:rPr lang="en-US" sz="2840" b="1" i="0" dirty="0">
                <a:solidFill>
                  <a:srgbClr val="F4F1EA"/>
                </a:solidFill>
                <a:latin typeface="Space Grotesk" pitchFamily="34" charset="0"/>
                <a:ea typeface="Space Grotesk" pitchFamily="34" charset="-122"/>
                <a:cs typeface="Space Grotesk" pitchFamily="34" charset="-120"/>
              </a:rPr>
              <a:t>One command, start to finish</a:t>
            </a:r>
            <a:endParaRPr lang="en-US" sz="2840" dirty="0"/>
          </a:p>
        </p:txBody>
      </p:sp>
      <p:sp>
        <p:nvSpPr>
          <p:cNvPr id="4" name="Shape 2"/>
          <p:cNvSpPr/>
          <p:nvPr/>
        </p:nvSpPr>
        <p:spPr>
          <a:xfrm>
            <a:off x="815975" y="1407585"/>
            <a:ext cx="10560050" cy="2714294"/>
          </a:xfrm>
          <a:prstGeom prst="roundRect">
            <a:avLst>
              <a:gd name="adj" fmla="val 3626"/>
            </a:avLst>
          </a:prstGeom>
          <a:solidFill>
            <a:srgbClr val="0A111E"/>
          </a:solidFill>
          <a:ln w="6350">
            <a:solidFill>
              <a:srgbClr val="2E4366"/>
            </a:solidFill>
            <a:prstDash val="solid"/>
          </a:ln>
        </p:spPr>
      </p:sp>
      <p:pic>
        <p:nvPicPr>
          <p:cNvPr id="5" name="Image 0" descr="Terminal output of the demo: catalogue summary, k-d tree screening with 2,254 events on 2,204 pairs, and clusters, top-K and mitigation results">    </p:cNvPr>
          <p:cNvPicPr>
            <a:picLocks noChangeAspect="1"/>
          </p:cNvPicPr>
          <p:nvPr/>
        </p:nvPicPr>
        <p:blipFill>
          <a:blip r:embed="rId1"/>
          <a:srcRect l="-5602" r="-5602" t="0" b="0"/>
          <a:stretch/>
        </p:blipFill>
        <p:spPr>
          <a:xfrm>
            <a:off x="1333500" y="1510246"/>
            <a:ext cx="9525000" cy="2508978"/>
          </a:xfrm>
          <a:prstGeom prst="rect">
            <a:avLst/>
          </a:prstGeom>
        </p:spPr>
      </p:pic>
      <p:sp>
        <p:nvSpPr>
          <p:cNvPr id="6" name="Shape 3"/>
          <p:cNvSpPr/>
          <p:nvPr/>
        </p:nvSpPr>
        <p:spPr>
          <a:xfrm>
            <a:off x="812800" y="4328257"/>
            <a:ext cx="3420533" cy="1513747"/>
          </a:xfrm>
          <a:prstGeom prst="roundRect">
            <a:avLst>
              <a:gd name="adj" fmla="val 6712"/>
            </a:avLst>
          </a:prstGeom>
          <a:solidFill>
            <a:srgbClr val="16233A"/>
          </a:solidFill>
          <a:ln/>
        </p:spPr>
      </p:sp>
      <p:sp>
        <p:nvSpPr>
          <p:cNvPr id="7" name="Text 4"/>
          <p:cNvSpPr/>
          <p:nvPr/>
        </p:nvSpPr>
        <p:spPr>
          <a:xfrm>
            <a:off x="990600" y="4480657"/>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541"/>
                </a:solidFill>
                <a:latin typeface="IBM Plex Sans" pitchFamily="34" charset="0"/>
                <a:ea typeface="IBM Plex Sans" pitchFamily="34" charset="-122"/>
                <a:cs typeface="IBM Plex Sans" pitchFamily="34" charset="-120"/>
              </a:rPr>
              <a:t>1 · Loading</a:t>
            </a:r>
            <a:endParaRPr lang="en-US" sz="1500" dirty="0"/>
          </a:p>
        </p:txBody>
      </p:sp>
      <p:sp>
        <p:nvSpPr>
          <p:cNvPr id="8" name="Text 5"/>
          <p:cNvSpPr/>
          <p:nvPr/>
        </p:nvSpPr>
        <p:spPr>
          <a:xfrm>
            <a:off x="990600" y="4747357"/>
            <a:ext cx="3156881"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5CEDE"/>
                </a:solidFill>
                <a:latin typeface="IBM Plex Sans" pitchFamily="34" charset="0"/>
                <a:ea typeface="IBM Plex Sans" pitchFamily="34" charset="-122"/>
                <a:cs typeface="IBM Plex Sans" pitchFamily="34" charset="-120"/>
              </a:rPr>
              <a:t>The four CelesTrak files, 19,440 objects with no bad rows, 18,616 of them in low Earth orbit.</a:t>
            </a:r>
            <a:endParaRPr lang="en-US" sz="1300" dirty="0"/>
          </a:p>
        </p:txBody>
      </p:sp>
      <p:sp>
        <p:nvSpPr>
          <p:cNvPr id="9" name="Shape 6"/>
          <p:cNvSpPr/>
          <p:nvPr/>
        </p:nvSpPr>
        <p:spPr>
          <a:xfrm>
            <a:off x="4385733" y="4328257"/>
            <a:ext cx="3420533" cy="1513747"/>
          </a:xfrm>
          <a:prstGeom prst="roundRect">
            <a:avLst>
              <a:gd name="adj" fmla="val 6712"/>
            </a:avLst>
          </a:prstGeom>
          <a:solidFill>
            <a:srgbClr val="16233A"/>
          </a:solidFill>
          <a:ln/>
        </p:spPr>
      </p:sp>
      <p:sp>
        <p:nvSpPr>
          <p:cNvPr id="10" name="Text 7"/>
          <p:cNvSpPr/>
          <p:nvPr/>
        </p:nvSpPr>
        <p:spPr>
          <a:xfrm>
            <a:off x="4563533" y="4480657"/>
            <a:ext cx="31568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541"/>
                </a:solidFill>
                <a:latin typeface="IBM Plex Sans" pitchFamily="34" charset="0"/>
                <a:ea typeface="IBM Plex Sans" pitchFamily="34" charset="-122"/>
                <a:cs typeface="IBM Plex Sans" pitchFamily="34" charset="-120"/>
              </a:rPr>
              <a:t>2 · Screening</a:t>
            </a:r>
            <a:endParaRPr lang="en-US" sz="1500" dirty="0"/>
          </a:p>
        </p:txBody>
      </p:sp>
      <p:sp>
        <p:nvSpPr>
          <p:cNvPr id="11" name="Text 8"/>
          <p:cNvSpPr/>
          <p:nvPr/>
        </p:nvSpPr>
        <p:spPr>
          <a:xfrm>
            <a:off x="4563533" y="4747357"/>
            <a:ext cx="3156881"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5CEDE"/>
                </a:solidFill>
                <a:latin typeface="IBM Plex Sans" pitchFamily="34" charset="0"/>
                <a:ea typeface="IBM Plex Sans" pitchFamily="34" charset="-122"/>
                <a:cs typeface="IBM Plex Sans" pitchFamily="34" charset="-120"/>
              </a:rPr>
              <a:t>Simulating the next hour of orbit at a 10 second step and a 5km threshold using SGP4; 18,191 objects are used, and it finds 2,254 events on 2,204 pairs.</a:t>
            </a:r>
            <a:endParaRPr lang="en-US" sz="1300" dirty="0"/>
          </a:p>
        </p:txBody>
      </p:sp>
      <p:sp>
        <p:nvSpPr>
          <p:cNvPr id="12" name="Shape 9"/>
          <p:cNvSpPr/>
          <p:nvPr/>
        </p:nvSpPr>
        <p:spPr>
          <a:xfrm>
            <a:off x="7958667" y="4328257"/>
            <a:ext cx="3420533" cy="1513747"/>
          </a:xfrm>
          <a:prstGeom prst="roundRect">
            <a:avLst>
              <a:gd name="adj" fmla="val 6712"/>
            </a:avLst>
          </a:prstGeom>
          <a:solidFill>
            <a:srgbClr val="16233A"/>
          </a:solidFill>
          <a:ln/>
        </p:spPr>
      </p:sp>
      <p:sp>
        <p:nvSpPr>
          <p:cNvPr id="13" name="Text 10"/>
          <p:cNvSpPr/>
          <p:nvPr/>
        </p:nvSpPr>
        <p:spPr>
          <a:xfrm>
            <a:off x="8136467" y="4480657"/>
            <a:ext cx="3156881" cy="224697"/>
          </a:xfrm>
          <a:prstGeom prst="rect">
            <a:avLst/>
          </a:prstGeom>
          <a:noFill/>
          <a:ln/>
        </p:spPr>
        <p:txBody>
          <a:bodyPr wrap="square" lIns="0" tIns="0" rIns="0" bIns="0" rtlCol="0" anchor="t">
            <a:normAutofit/>
          </a:bodyPr>
          <a:lstStyle/>
          <a:p>
            <a:pPr algn="l" indent="0" marL="0">
              <a:lnSpc>
                <a:spcPts val="1569"/>
              </a:lnSpc>
              <a:buNone/>
            </a:pPr>
            <a:r>
              <a:rPr lang="en-US" sz="1308" b="1" dirty="0">
                <a:solidFill>
                  <a:srgbClr val="F2A541"/>
                </a:solidFill>
                <a:latin typeface="IBM Plex Sans" pitchFamily="34" charset="0"/>
                <a:ea typeface="IBM Plex Sans" pitchFamily="34" charset="-122"/>
                <a:cs typeface="IBM Plex Sans" pitchFamily="34" charset="-120"/>
              </a:rPr>
              <a:t>3 · Planning</a:t>
            </a:r>
            <a:endParaRPr lang="en-US" sz="1308" dirty="0"/>
          </a:p>
        </p:txBody>
      </p:sp>
      <p:sp>
        <p:nvSpPr>
          <p:cNvPr id="14" name="Text 11"/>
          <p:cNvSpPr/>
          <p:nvPr/>
        </p:nvSpPr>
        <p:spPr>
          <a:xfrm>
            <a:off x="8136467" y="4718050"/>
            <a:ext cx="3156881" cy="996950"/>
          </a:xfrm>
          <a:prstGeom prst="rect">
            <a:avLst/>
          </a:prstGeom>
          <a:noFill/>
          <a:ln/>
        </p:spPr>
        <p:txBody>
          <a:bodyPr wrap="square" lIns="0" tIns="0" rIns="0" bIns="0" rtlCol="0" anchor="t">
            <a:normAutofit/>
          </a:bodyPr>
          <a:lstStyle/>
          <a:p>
            <a:pPr algn="l" indent="0" marL="0">
              <a:lnSpc>
                <a:spcPts val="1700"/>
              </a:lnSpc>
              <a:buNone/>
            </a:pPr>
            <a:r>
              <a:rPr lang="en-US" sz="1259" dirty="0">
                <a:solidFill>
                  <a:srgbClr val="C5CEDE"/>
                </a:solidFill>
                <a:latin typeface="IBM Plex Sans" pitchFamily="34" charset="0"/>
                <a:ea typeface="IBM Plex Sans" pitchFamily="34" charset="-122"/>
                <a:cs typeface="IBM Plex Sans" pitchFamily="34" charset="-120"/>
              </a:rPr>
              <a:t>1,044 clusters, the largest with 24 objects, greedy </a:t>
            </a:r>
            <a:r>
              <a:rPr lang="en-US" sz="1259" b="1" u="sng" dirty="0">
                <a:solidFill>
                  <a:srgbClr val="C5CEDE"/>
                </a:solidFill>
                <a:latin typeface="IBM Plex Sans" pitchFamily="34" charset="0"/>
                <a:ea typeface="IBM Plex Sans" pitchFamily="34" charset="-122"/>
                <a:cs typeface="IBM Plex Sans" pitchFamily="34" charset="-120"/>
              </a:rPr>
              <a:t>1,353</a:t>
            </a:r>
            <a:r>
              <a:rPr lang="en-US" sz="1259" dirty="0">
                <a:solidFill>
                  <a:srgbClr val="C5CEDE"/>
                </a:solidFill>
                <a:latin typeface="IBM Plex Sans" pitchFamily="34" charset="0"/>
                <a:ea typeface="IBM Plex Sans" pitchFamily="34" charset="-122"/>
                <a:cs typeface="IBM Plex Sans" pitchFamily="34" charset="-120"/>
              </a:rPr>
              <a:t> objects against exact 1,346, and the exact search finished on all 425 clusters of three or more objects.</a:t>
            </a:r>
            <a:endParaRPr lang="en-US" sz="1259" dirty="0"/>
          </a:p>
        </p:txBody>
      </p:sp>
      <p:sp>
        <p:nvSpPr>
          <p:cNvPr id="15" name="Text 12"/>
          <p:cNvSpPr/>
          <p:nvPr/>
        </p:nvSpPr>
        <p:spPr>
          <a:xfrm>
            <a:off x="812800" y="6238280"/>
            <a:ext cx="9245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3"/>
                </a:solidFill>
                <a:latin typeface="IBM Plex Sans" pitchFamily="34" charset="0"/>
                <a:ea typeface="IBM Plex Sans" pitchFamily="34" charset="-122"/>
                <a:cs typeface="IBM Plex Sans" pitchFamily="34" charset="-120"/>
              </a:rPr>
              <a:t>1 h window, 10 s step, 5 km threshold, SGP4, LEO scope · outputs in build\demo · Linux output so CPU time may vary</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E9BB3"/>
                </a:solidFill>
                <a:latin typeface="IBM Plex Sans" pitchFamily="34" charset="0"/>
                <a:ea typeface="IBM Plex Sans" pitchFamily="34" charset="-122"/>
                <a:cs typeface="IBM Plex Sans" pitchFamily="34" charset="-120"/>
              </a:rPr>
              <a:t>10 / 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A541"/>
        </a:solidFill>
      </p:bgPr>
    </p:bg>
    <p:spTree>
      <p:nvGrpSpPr>
        <p:cNvPr id="1" name=""/>
        <p:cNvGrpSpPr/>
        <p:nvPr/>
      </p:nvGrpSpPr>
      <p:grpSpPr>
        <a:xfrm>
          <a:off x="0" y="0"/>
          <a:ext cx="0" cy="0"/>
          <a:chOff x="0" y="0"/>
          <a:chExt cx="0" cy="0"/>
        </a:xfrm>
      </p:grpSpPr>
      <p:sp>
        <p:nvSpPr>
          <p:cNvPr id="2" name="Text 0"/>
          <p:cNvSpPr/>
          <p:nvPr/>
        </p:nvSpPr>
        <p:spPr>
          <a:xfrm>
            <a:off x="812800" y="6096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4213D"/>
                </a:solidFill>
                <a:latin typeface="IBM Plex Sans" pitchFamily="34" charset="0"/>
                <a:ea typeface="IBM Plex Sans" pitchFamily="34" charset="-122"/>
                <a:cs typeface="IBM Plex Sans" pitchFamily="34" charset="-120"/>
              </a:rPr>
              <a:t>CONCLUSIONS</a:t>
            </a:r>
            <a:endParaRPr lang="en-US" sz="1400" dirty="0"/>
          </a:p>
        </p:txBody>
      </p:sp>
      <p:sp>
        <p:nvSpPr>
          <p:cNvPr id="3" name="Text 1"/>
          <p:cNvSpPr/>
          <p:nvPr/>
        </p:nvSpPr>
        <p:spPr>
          <a:xfrm>
            <a:off x="812800" y="934709"/>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Faster, and nothing missed</a:t>
            </a:r>
            <a:endParaRPr lang="en-US" sz="3200" dirty="0"/>
          </a:p>
        </p:txBody>
      </p:sp>
      <p:sp>
        <p:nvSpPr>
          <p:cNvPr id="4" name="Shape 2"/>
          <p:cNvSpPr/>
          <p:nvPr/>
        </p:nvSpPr>
        <p:spPr>
          <a:xfrm>
            <a:off x="812800" y="1635720"/>
            <a:ext cx="3403600" cy="3073268"/>
          </a:xfrm>
          <a:prstGeom prst="roundRect">
            <a:avLst>
              <a:gd name="adj" fmla="val 4132"/>
            </a:avLst>
          </a:prstGeom>
          <a:solidFill>
            <a:srgbClr val="FFF1D6"/>
          </a:solidFill>
          <a:ln/>
        </p:spPr>
      </p:sp>
      <p:sp>
        <p:nvSpPr>
          <p:cNvPr id="5" name="Text 3"/>
          <p:cNvSpPr/>
          <p:nvPr/>
        </p:nvSpPr>
        <p:spPr>
          <a:xfrm>
            <a:off x="1041400" y="1864320"/>
            <a:ext cx="303479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What we found</a:t>
            </a:r>
            <a:endParaRPr lang="en-US" sz="1800" dirty="0"/>
          </a:p>
        </p:txBody>
      </p:sp>
      <p:sp>
        <p:nvSpPr>
          <p:cNvPr id="6" name="Text 4"/>
          <p:cNvSpPr/>
          <p:nvPr/>
        </p:nvSpPr>
        <p:spPr>
          <a:xfrm>
            <a:off x="1119632" y="2240229"/>
            <a:ext cx="2948940" cy="226556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Our fast methods (k-d tree and a hashed grid) find exactly the same close calls as checking every pair (brute force), with about </a:t>
            </a:r>
            <a:r>
              <a:rPr lang="en-US" sz="1400" b="1" dirty="0">
                <a:solidFill>
                  <a:srgbClr val="14213D"/>
                </a:solidFill>
                <a:latin typeface="IBM Plex Sans" pitchFamily="34" charset="0"/>
                <a:ea typeface="IBM Plex Sans" pitchFamily="34" charset="-122"/>
                <a:cs typeface="IBM Plex Sans" pitchFamily="34" charset="-120"/>
              </a:rPr>
              <a:t>15,000× fewer checks.</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Up to </a:t>
            </a:r>
            <a:r>
              <a:rPr lang="en-US" sz="1400" b="1" dirty="0">
                <a:solidFill>
                  <a:srgbClr val="14213D"/>
                </a:solidFill>
                <a:latin typeface="IBM Plex Sans" pitchFamily="34" charset="0"/>
                <a:ea typeface="IBM Plex Sans" pitchFamily="34" charset="-122"/>
                <a:cs typeface="IBM Plex Sans" pitchFamily="34" charset="-120"/>
              </a:rPr>
              <a:t>10× faster</a:t>
            </a:r>
            <a:r>
              <a:rPr lang="en-US" sz="1400" dirty="0">
                <a:solidFill>
                  <a:srgbClr val="14213D"/>
                </a:solidFill>
                <a:latin typeface="IBM Plex Sans" pitchFamily="34" charset="0"/>
                <a:ea typeface="IBM Plex Sans" pitchFamily="34" charset="-122"/>
                <a:cs typeface="IBM Plex Sans" pitchFamily="34" charset="-120"/>
              </a:rPr>
              <a:t>; about 7× on the real catalogue.</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 quick avoidance plan is within </a:t>
            </a:r>
            <a:r>
              <a:rPr lang="en-US" sz="1400" b="1" dirty="0">
                <a:solidFill>
                  <a:srgbClr val="14213D"/>
                </a:solidFill>
                <a:latin typeface="IBM Plex Sans" pitchFamily="34" charset="0"/>
                <a:ea typeface="IBM Plex Sans" pitchFamily="34" charset="-122"/>
                <a:cs typeface="IBM Plex Sans" pitchFamily="34" charset="-120"/>
              </a:rPr>
              <a:t>1.4%</a:t>
            </a:r>
            <a:r>
              <a:rPr lang="en-US" sz="1400" dirty="0">
                <a:solidFill>
                  <a:srgbClr val="14213D"/>
                </a:solidFill>
                <a:latin typeface="IBM Plex Sans" pitchFamily="34" charset="0"/>
                <a:ea typeface="IBM Plex Sans" pitchFamily="34" charset="-122"/>
                <a:cs typeface="IBM Plex Sans" pitchFamily="34" charset="-120"/>
              </a:rPr>
              <a:t> of the best possible.</a:t>
            </a:r>
            <a:endParaRPr lang="en-US" sz="1400" dirty="0"/>
          </a:p>
        </p:txBody>
      </p:sp>
      <p:sp>
        <p:nvSpPr>
          <p:cNvPr id="7" name="Shape 5"/>
          <p:cNvSpPr/>
          <p:nvPr/>
        </p:nvSpPr>
        <p:spPr>
          <a:xfrm>
            <a:off x="4394200" y="1635720"/>
            <a:ext cx="3403600" cy="3073268"/>
          </a:xfrm>
          <a:prstGeom prst="roundRect">
            <a:avLst>
              <a:gd name="adj" fmla="val 4132"/>
            </a:avLst>
          </a:prstGeom>
          <a:solidFill>
            <a:srgbClr val="FFF1D6"/>
          </a:solidFill>
          <a:ln/>
        </p:spPr>
      </p:sp>
      <p:sp>
        <p:nvSpPr>
          <p:cNvPr id="8" name="Text 6"/>
          <p:cNvSpPr/>
          <p:nvPr/>
        </p:nvSpPr>
        <p:spPr>
          <a:xfrm>
            <a:off x="4622800" y="1864320"/>
            <a:ext cx="303479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Limits</a:t>
            </a:r>
            <a:endParaRPr lang="en-US" sz="1800" dirty="0"/>
          </a:p>
        </p:txBody>
      </p:sp>
      <p:sp>
        <p:nvSpPr>
          <p:cNvPr id="9" name="Text 7"/>
          <p:cNvSpPr/>
          <p:nvPr/>
        </p:nvSpPr>
        <p:spPr>
          <a:xfrm>
            <a:off x="4701032" y="2240229"/>
            <a:ext cx="2948940" cy="226556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Objects are treated as points, with one fixed warning distance. No collision probability yet.</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Low Earth orbit only. It tests the method, not real-world accuracy.</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Checking every pair was not run at 50,000 objects but we guarantee our claims at that level too.</a:t>
            </a:r>
            <a:endParaRPr lang="en-US" sz="1400" dirty="0"/>
          </a:p>
        </p:txBody>
      </p:sp>
      <p:sp>
        <p:nvSpPr>
          <p:cNvPr id="10" name="Shape 8"/>
          <p:cNvSpPr/>
          <p:nvPr/>
        </p:nvSpPr>
        <p:spPr>
          <a:xfrm>
            <a:off x="7975600" y="1635720"/>
            <a:ext cx="3403600" cy="3073268"/>
          </a:xfrm>
          <a:prstGeom prst="roundRect">
            <a:avLst>
              <a:gd name="adj" fmla="val 4132"/>
            </a:avLst>
          </a:prstGeom>
          <a:solidFill>
            <a:srgbClr val="FFF1D6"/>
          </a:solidFill>
          <a:ln/>
        </p:spPr>
      </p:sp>
      <p:sp>
        <p:nvSpPr>
          <p:cNvPr id="11" name="Text 9"/>
          <p:cNvSpPr/>
          <p:nvPr/>
        </p:nvSpPr>
        <p:spPr>
          <a:xfrm>
            <a:off x="8204200" y="1864320"/>
            <a:ext cx="303479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Next</a:t>
            </a:r>
            <a:endParaRPr lang="en-US" sz="1800" dirty="0"/>
          </a:p>
        </p:txBody>
      </p:sp>
      <p:sp>
        <p:nvSpPr>
          <p:cNvPr id="12" name="Text 10"/>
          <p:cNvSpPr/>
          <p:nvPr/>
        </p:nvSpPr>
        <p:spPr>
          <a:xfrm>
            <a:off x="8282432" y="2240229"/>
            <a:ext cx="2948940" cy="126993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Cover higher orbits too.</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Reuse orbit calculations to save time.</a:t>
            </a:r>
            <a:endParaRPr lang="en-US" sz="1400" dirty="0"/>
          </a:p>
          <a:p>
            <a:pPr algn="l" marL="175768" indent="-175768">
              <a:lnSpc>
                <a:spcPts val="196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Add uncertainty and collision probability.</a:t>
            </a:r>
            <a:endParaRPr lang="en-US" sz="1400" dirty="0"/>
          </a:p>
        </p:txBody>
      </p:sp>
      <p:sp>
        <p:nvSpPr>
          <p:cNvPr id="13" name="Text 11"/>
          <p:cNvSpPr/>
          <p:nvPr/>
        </p:nvSpPr>
        <p:spPr>
          <a:xfrm>
            <a:off x="812800" y="6238280"/>
            <a:ext cx="9752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Space Debris Tracking and Avoidance using Data Structures and Algorithms · Pathak, Shah, Thakran · full report: paper/Report.docx</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11 / 11</a:t>
            </a:r>
            <a:endParaRPr lang="en-US" sz="1200" dirty="0"/>
          </a:p>
        </p:txBody>
      </p:sp>
      <p:sp>
        <p:nvSpPr>
          <p:cNvPr id="15" name="Text 13"/>
          <p:cNvSpPr/>
          <p:nvPr/>
        </p:nvSpPr>
        <p:spPr>
          <a:xfrm>
            <a:off x="5686671" y="4800668"/>
            <a:ext cx="5858032" cy="126993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u="sng" dirty="0">
                <a:solidFill>
                  <a:srgbClr val="141413"/>
                </a:solidFill>
                <a:latin typeface="IBM Plex Sans" pitchFamily="34" charset="0"/>
                <a:ea typeface="IBM Plex Sans" pitchFamily="34" charset="-122"/>
                <a:cs typeface="IBM Plex Sans" pitchFamily="34" charset="-120"/>
              </a:rPr>
              <a:t>Is our algorithm correct and fast?</a:t>
            </a:r>
            <a:r>
              <a:rPr lang="en-US" sz="1400" dirty="0">
                <a:solidFill>
                  <a:srgbClr val="141413"/>
                </a:solidFill>
                <a:latin typeface="IBM Plex Sans" pitchFamily="34" charset="0"/>
                <a:ea typeface="IBM Plex Sans" pitchFamily="34" charset="-122"/>
                <a:cs typeface="IBM Plex Sans" pitchFamily="34" charset="-120"/>
              </a:rPr>
              <a:t> -  Yes, and we proved and measured it. That is the project’s contribution.</a:t>
            </a:r>
            <a:endParaRPr lang="en-US" sz="1400" dirty="0"/>
          </a:p>
          <a:p>
            <a:pPr algn="l" marL="175768" indent="-175768">
              <a:lnSpc>
                <a:spcPts val="1960"/>
              </a:lnSpc>
              <a:buSzPct val="100000"/>
              <a:buChar char="•"/>
            </a:pPr>
            <a:r>
              <a:rPr lang="en-US" sz="1400" u="sng" dirty="0">
                <a:solidFill>
                  <a:srgbClr val="141413"/>
                </a:solidFill>
                <a:latin typeface="IBM Plex Sans" pitchFamily="34" charset="0"/>
                <a:ea typeface="IBM Plex Sans" pitchFamily="34" charset="-122"/>
                <a:cs typeface="IBM Plex Sans" pitchFamily="34" charset="-120"/>
              </a:rPr>
              <a:t>Are the close calls it reports true in the real sky?</a:t>
            </a:r>
            <a:r>
              <a:rPr lang="en-US" sz="1400" dirty="0">
                <a:solidFill>
                  <a:srgbClr val="141413"/>
                </a:solidFill>
                <a:latin typeface="IBM Plex Sans" pitchFamily="34" charset="0"/>
                <a:ea typeface="IBM Plex Sans" pitchFamily="34" charset="-122"/>
                <a:cs typeface="IBM Plex Sans" pitchFamily="34" charset="-120"/>
              </a:rPr>
              <a:t> - That depends on how good the input data is. Better input data would improve it without changing our algorithm at all.</a:t>
            </a:r>
            <a:endParaRPr lang="en-US" sz="1400" dirty="0"/>
          </a:p>
        </p:txBody>
      </p:sp>
      <p:sp>
        <p:nvSpPr>
          <p:cNvPr id="16" name="Text 14"/>
          <p:cNvSpPr/>
          <p:nvPr/>
        </p:nvSpPr>
        <p:spPr>
          <a:xfrm>
            <a:off x="4549973" y="5598189"/>
            <a:ext cx="110926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213D"/>
                </a:solidFill>
                <a:latin typeface="Space Grotesk" pitchFamily="34" charset="0"/>
                <a:ea typeface="Space Grotesk" pitchFamily="34" charset="-122"/>
                <a:cs typeface="Space Grotesk" pitchFamily="34" charset="-120"/>
              </a:rPr>
              <a:t>FAQs</a:t>
            </a:r>
            <a:endParaRPr lang="en-US" sz="3200" dirty="0"/>
          </a:p>
        </p:txBody>
      </p:sp>
    </p:spTree>
  </p:cSld>
  <p:clrMapOvr>
    <a:masterClrMapping/>
  </p:clrMapOvr>
</p:sld>
</file>

<file path=ppt/theme/theme1.xml><?xml version="1.0" encoding="utf-8"?>
<a:theme xmlns:a="http://schemas.openxmlformats.org/drawingml/2006/main" name="Space Debris Tracking and Avoidance - DSA Presentation">
  <a:themeElements>
    <a:clrScheme name="Space Debris Tracking and Avoidance - DSA Presentation">
      <a:dk1>
        <a:srgbClr val="14213D"/>
      </a:dk1>
      <a:lt1>
        <a:srgbClr val="F3F0E8"/>
      </a:lt1>
      <a:dk2>
        <a:srgbClr val="4C5568"/>
      </a:dk2>
      <a:lt2>
        <a:srgbClr val="DDDBD7"/>
      </a:lt2>
      <a:accent1>
        <a:srgbClr val="B45309"/>
      </a:accent1>
      <a:accent2>
        <a:srgbClr val="F2A541"/>
      </a:accent2>
      <a:accent3>
        <a:srgbClr val="2C3A52"/>
      </a:accent3>
      <a:accent4>
        <a:srgbClr val="5A6577"/>
      </a:accent4>
      <a:accent5>
        <a:srgbClr val="C5CEDE"/>
      </a:accent5>
      <a:accent6>
        <a:srgbClr val="8E9BB3"/>
      </a:accent6>
      <a:hlink>
        <a:srgbClr val="0563C1"/>
      </a:hlink>
      <a:folHlink>
        <a:srgbClr val="954F72"/>
      </a:folHlink>
    </a:clrScheme>
    <a:fontScheme name="Space Debris Tracking and Avoidance - DSA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Debris Tracking and Avoidance - DSA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2026-10-26T16:53:02Z</dcterms:created>
  <dcterms:modified xsi:type="dcterms:W3CDTF">2026-10-26T16:53:02Z</dcterms:modified>
</cp:coreProperties>
</file>